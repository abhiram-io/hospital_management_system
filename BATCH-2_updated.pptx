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6" r:id="rId11"/>
    <p:sldId id="273" r:id="rId12"/>
    <p:sldId id="277" r:id="rId13"/>
    <p:sldId id="286" r:id="rId14"/>
    <p:sldId id="288" r:id="rId15"/>
    <p:sldId id="279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66" r:id="rId24"/>
    <p:sldId id="267" r:id="rId25"/>
    <p:sldId id="268" r:id="rId26"/>
    <p:sldId id="272" r:id="rId27"/>
    <p:sldId id="296" r:id="rId28"/>
    <p:sldId id="297" r:id="rId29"/>
    <p:sldId id="298" r:id="rId30"/>
    <p:sldId id="299" r:id="rId31"/>
    <p:sldId id="280" r:id="rId32"/>
    <p:sldId id="281" r:id="rId33"/>
    <p:sldId id="301" r:id="rId34"/>
    <p:sldId id="300" r:id="rId35"/>
    <p:sldId id="302" r:id="rId36"/>
    <p:sldId id="303" r:id="rId37"/>
    <p:sldId id="304" r:id="rId38"/>
    <p:sldId id="271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37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8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658304" y="1851661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 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503522" y="4272915"/>
            <a:ext cx="219456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44058-23CE-6EAD-49AD-D70CA80A3899}"/>
              </a:ext>
            </a:extLst>
          </p:cNvPr>
          <p:cNvSpPr txBox="1"/>
          <p:nvPr/>
        </p:nvSpPr>
        <p:spPr>
          <a:xfrm>
            <a:off x="1503522" y="3808659"/>
            <a:ext cx="763428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D37119-1B3B-A305-F8A7-DC37636CA038}"/>
              </a:ext>
            </a:extLst>
          </p:cNvPr>
          <p:cNvSpPr txBox="1"/>
          <p:nvPr/>
        </p:nvSpPr>
        <p:spPr>
          <a:xfrm>
            <a:off x="4344354" y="731520"/>
            <a:ext cx="76342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Review-1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EFE43-4A36-FCBF-6625-27583FEE6BCB}"/>
              </a:ext>
            </a:extLst>
          </p:cNvPr>
          <p:cNvSpPr txBox="1"/>
          <p:nvPr/>
        </p:nvSpPr>
        <p:spPr>
          <a:xfrm>
            <a:off x="1450183" y="4394447"/>
            <a:ext cx="8486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G.BENJAMIN         26B21CS030</a:t>
            </a:r>
          </a:p>
          <a:p>
            <a:r>
              <a:rPr lang="en-IN" dirty="0">
                <a:solidFill>
                  <a:schemeClr val="bg1"/>
                </a:solidFill>
              </a:rPr>
              <a:t>CH.ENOSH             26B21CS021  </a:t>
            </a:r>
          </a:p>
          <a:p>
            <a:r>
              <a:rPr lang="en-IN" dirty="0">
                <a:solidFill>
                  <a:schemeClr val="bg1"/>
                </a:solidFill>
              </a:rPr>
              <a:t>B.ANIL KUMAR     26B21CS099 </a:t>
            </a:r>
          </a:p>
          <a:p>
            <a:r>
              <a:rPr lang="en-IN" dirty="0">
                <a:solidFill>
                  <a:schemeClr val="bg1"/>
                </a:solidFill>
              </a:rPr>
              <a:t>A.ABHIRAM          26B21CS010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20802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080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gap this project addresses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0" y="20802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0" y="20802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3134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designed to achieve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5800" y="3753612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7536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47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9867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36499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37536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37536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5478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39867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interacts with the system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03834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5800" y="5426964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5800" y="54269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2212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Design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08760" y="566013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attributes, keys &amp; relationships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503834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00800" y="5426964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0" y="54269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52212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23760" y="566013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entity-relationship diagram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6" name="Picture 35" descr="Employability Dashboard">
            <a:extLst>
              <a:ext uri="{FF2B5EF4-FFF2-40B4-BE49-F238E27FC236}">
                <a16:creationId xmlns:a16="http://schemas.microsoft.com/office/drawing/2014/main" id="{D1405F6A-0CFF-3DE7-31E3-26026750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85" y="211245"/>
            <a:ext cx="1459307" cy="5618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and mid-sized hospitals still run on paper registers, isolated spreadsheets, and staff memory — creating fragmented, error-prone, and slow operations.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patient history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can't see past admissions, prescriptions, or lab results from other departments.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0248" y="21488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71416" y="23317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71416" y="25328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scheduling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71416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double-booking of doctors and long patient queues.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84464" y="23317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84464" y="25328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bed availability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84464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boards can't show free beds instantly during emergencies.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8368" y="449884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" y="4700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billing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" y="518464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Consultation, admission, pharmacy &amp; lab charges combined by hand.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0248" y="4315968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71416" y="449884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471416" y="4700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pharmacy stock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71416" y="518464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expire unnoticed or run out without warning.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83296" y="4315968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284464" y="449884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84464" y="4700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reporting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84464" y="5184648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queryable source of truth for occupancy, revenue, or workload.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1" name="Picture 30" descr="Employability Dashboard">
            <a:extLst>
              <a:ext uri="{FF2B5EF4-FFF2-40B4-BE49-F238E27FC236}">
                <a16:creationId xmlns:a16="http://schemas.microsoft.com/office/drawing/2014/main" id="{2BBF8471-81BF-7C27-7063-21ED328FF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521" y="273406"/>
            <a:ext cx="1572119" cy="605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Is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constraints prevent double-booked doctors &amp; orphaned records.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9224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get history, allergies &amp; prescriptions in seconds — vital in emergencies.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630168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scheduling, admission &amp; billing cuts staff workload.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08152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630168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 store each fact once, referenced everywhere.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54296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48188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Reporting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5202936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instantly generates occupancy, revenue &amp; workload reports.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654296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92240" y="48188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5202936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digital records simplify audits &amp; insurance claims.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4" name="Picture 23" descr="Employability Dashboard">
            <a:extLst>
              <a:ext uri="{FF2B5EF4-FFF2-40B4-BE49-F238E27FC236}">
                <a16:creationId xmlns:a16="http://schemas.microsoft.com/office/drawing/2014/main" id="{82FDBEFA-6E10-1684-EEED-A2470328D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271" y="192023"/>
            <a:ext cx="1662369" cy="640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060704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every patient's record — demographics, appointments, admissions, prescriptions &amp; lab tests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272" y="227685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appointment scheduling between patients and doctors, avoiding conflicts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227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31729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inpatient admissions — ward/bed allocation and attending doctors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227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48272" y="31729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consolidated billing across consultation, admission, pharmacy &amp; lab charges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7552" y="4069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pharmacy inventory and link it directly to prescriptions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23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48272" y="4069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lab tests ordered by doctors along with results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020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" name="Picture 1" descr="Employability Dashboard">
            <a:extLst>
              <a:ext uri="{FF2B5EF4-FFF2-40B4-BE49-F238E27FC236}">
                <a16:creationId xmlns:a16="http://schemas.microsoft.com/office/drawing/2014/main" id="{09EF5BEC-F1C2-210E-2E56-17F1BAC16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603" y="231458"/>
            <a:ext cx="1662369" cy="640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169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509579"/>
              </p:ext>
            </p:extLst>
          </p:nvPr>
        </p:nvGraphicFramePr>
        <p:xfrm>
          <a:off x="472440" y="1920240"/>
          <a:ext cx="11247120" cy="404788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Patient Registration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Register patients &amp; store demographic details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FR2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Appointment Booking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Book, reschedule or cancel patient–doctor appointments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FR3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Doctor &amp; Dept. Management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Maintain doctor profiles &amp; department mapping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Admission &amp; Discharge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Ward/bed allocation and discharge tracking (IPD)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FR5</a:t>
                      </a:r>
                      <a:endParaRPr lang="en-US" sz="1050" dirty="0"/>
                    </a:p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Billing &amp; Invoicing</a:t>
                      </a:r>
                      <a:endParaRPr lang="en-US" sz="1050" dirty="0"/>
                    </a:p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</a:rPr>
                        <a:t>Consolidated bills across all charge sources</a:t>
                      </a:r>
                      <a:endParaRPr lang="en-US" sz="1050" dirty="0"/>
                    </a:p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5" name="Text 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8" name="Picture 7" descr="Employability Dashboard">
            <a:extLst>
              <a:ext uri="{FF2B5EF4-FFF2-40B4-BE49-F238E27FC236}">
                <a16:creationId xmlns:a16="http://schemas.microsoft.com/office/drawing/2014/main" id="{44681DB5-A300-AF97-2DFC-47A548F83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274" y="162354"/>
            <a:ext cx="166236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 the system must satisfy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1792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4688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83464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 to sensitive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00984" y="17373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65576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65576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65576" y="24688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65576" y="283464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&amp; CHECK constraints prevent invalid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4768" y="17373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09360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0936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response for search &amp; availability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88552" y="17373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53144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53144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53144" y="246888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53144" y="283464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during hospital hours — critical for emergencies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044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1792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" y="46360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" y="5001768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supports growth without redesign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0984" y="39044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65576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6557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65576" y="46360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465576" y="5001768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interfaces requiring minimal staff training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39044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0936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09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46360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09360" y="5001768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 protect against data loss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88552" y="39044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153144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153144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53144" y="463600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153144" y="5001768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 timestamped for traceability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7" name="Picture 46" descr="Employability Dashboard">
            <a:extLst>
              <a:ext uri="{FF2B5EF4-FFF2-40B4-BE49-F238E27FC236}">
                <a16:creationId xmlns:a16="http://schemas.microsoft.com/office/drawing/2014/main" id="{8AD79E84-9A22-11B0-5EA2-B444F13B5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6611" y="112473"/>
            <a:ext cx="1662369" cy="6400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Users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26464" y="181051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26464" y="1810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Registered; books appointments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00984" y="15544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70248" y="181051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70248" y="1810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92424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38144" y="301752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history, treats, prescribes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44768" y="15544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14032" y="1810512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14032" y="1810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/ Ward Staff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ward &amp; bed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88552" y="155448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957816" y="181051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957816" y="1810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79992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25712" y="301752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patients, books visits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92224" y="4071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331720" y="3853917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82696" y="4105377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6" name="Text 34"/>
          <p:cNvSpPr/>
          <p:nvPr/>
        </p:nvSpPr>
        <p:spPr>
          <a:xfrm>
            <a:off x="3282696" y="408708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404872" y="4928337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Staff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450592" y="5294097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&amp; tracks invoices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114032" y="3851677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083296" y="4107709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083296" y="410770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205472" y="4948957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251192" y="5314717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ops, views reports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46" name="Picture 45" descr="Employability Dashboard">
            <a:extLst>
              <a:ext uri="{FF2B5EF4-FFF2-40B4-BE49-F238E27FC236}">
                <a16:creationId xmlns:a16="http://schemas.microsoft.com/office/drawing/2014/main" id="{C36443DA-EE0F-FAD1-50D0-1FC3903B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690" y="193054"/>
            <a:ext cx="1770950" cy="6818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&amp; Primary Keys 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453309"/>
              </p:ext>
            </p:extLst>
          </p:nvPr>
        </p:nvGraphicFramePr>
        <p:xfrm>
          <a:off x="457200" y="987551"/>
          <a:ext cx="11247120" cy="496183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Entity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Attributes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 Included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B2B2B"/>
                          </a:solidFill>
                        </a:rPr>
                        <a:t>PatientID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 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Age, phn_number, Name , DOB , Gender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Central entity — every clinical &amp; financial record revolves around a patient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Doctor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B2B2B"/>
                          </a:solidFill>
                        </a:rPr>
                        <a:t>DoctorID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 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Name, Specialization, Phn_number, ConsultationFee, DeptID (FK)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Medical staff who treat patients; drives appointments &amp; admissions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B2B2B"/>
                          </a:solidFill>
                        </a:rPr>
                        <a:t>DepartmentID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 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DeptName, Location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Organizes doctors/staff by specialty; avoids repeating dept info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b="1" dirty="0">
                          <a:solidFill>
                            <a:srgbClr val="002060"/>
                          </a:solidFill>
                        </a:rPr>
                        <a:t>Admission</a:t>
                      </a:r>
                      <a:endParaRPr lang="en-US" sz="10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 err="1"/>
                        <a:t>AdmissionID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PatientID (FK), </a:t>
                      </a:r>
                      <a:r>
                        <a:rPr lang="en-IN" sz="1000" dirty="0" err="1"/>
                        <a:t>AdmitDate</a:t>
                      </a:r>
                      <a:r>
                        <a:rPr lang="en-IN" sz="1000" dirty="0"/>
                        <a:t>, </a:t>
                      </a:r>
                      <a:r>
                        <a:rPr lang="en-IN" sz="1000" dirty="0" err="1"/>
                        <a:t>DischargeDate</a:t>
                      </a:r>
                      <a:r>
                        <a:rPr lang="en-IN" sz="1000" dirty="0"/>
                        <a:t>, </a:t>
                      </a:r>
                      <a:r>
                        <a:rPr lang="en-IN" sz="1000" dirty="0" err="1"/>
                        <a:t>BedNo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Captures inpatient (IPD) stays &amp; bed occupancy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</a:rPr>
                        <a:t>Appointment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B2B2B"/>
                          </a:solidFill>
                        </a:rPr>
                        <a:t>AppointmentID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 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PatientID (FK), DoctorID (FK), Date, Time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Resolves the M:N relationship between Patient &amp; Doctor (OPD)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— DBMS Cornerstone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BFD7A-71C9-2171-5DAF-32B17D2284BB}"/>
              </a:ext>
            </a:extLst>
          </p:cNvPr>
          <p:cNvSpPr txBox="1"/>
          <p:nvPr/>
        </p:nvSpPr>
        <p:spPr>
          <a:xfrm>
            <a:off x="487680" y="6016059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chemeClr val="accent5">
                    <a:lumMod val="50000"/>
                  </a:schemeClr>
                </a:solidFill>
              </a:rPr>
              <a:t>Billing </a:t>
            </a:r>
            <a:endParaRPr lang="en-US" sz="1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2C3581-4FF9-0908-B19C-F70BF2139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28027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476441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4247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751FE2-6C0C-731E-FFF6-29AD2EDC5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256460"/>
              </p:ext>
            </p:extLst>
          </p:nvPr>
        </p:nvGraphicFramePr>
        <p:xfrm>
          <a:off x="457200" y="6014826"/>
          <a:ext cx="11247120" cy="4362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47120">
                  <a:extLst>
                    <a:ext uri="{9D8B030D-6E8A-4147-A177-3AD203B41FA5}">
                      <a16:colId xmlns:a16="http://schemas.microsoft.com/office/drawing/2014/main" val="1392494299"/>
                    </a:ext>
                  </a:extLst>
                </a:gridCol>
              </a:tblGrid>
              <a:tr h="436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  </a:t>
                      </a:r>
                      <a:r>
                        <a:rPr lang="en-IN" sz="1000" b="1" dirty="0">
                          <a:solidFill>
                            <a:srgbClr val="002060"/>
                          </a:solidFill>
                        </a:rPr>
                        <a:t>BillIing</a:t>
                      </a:r>
                      <a:r>
                        <a:rPr lang="en-IN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                                             BillID                                               Amount, Date, PaymentStatus  ,PatientID                                                                    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</a:rPr>
                        <a:t>Consolidates all charges raised against a patient</a:t>
                      </a:r>
                      <a:endParaRPr lang="en-US" sz="1000" dirty="0"/>
                    </a:p>
                    <a:p>
                      <a:pPr>
                        <a:buNone/>
                      </a:pPr>
                      <a:endParaRPr lang="en-IN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008105"/>
                  </a:ext>
                </a:extLst>
              </a:tr>
            </a:tbl>
          </a:graphicData>
        </a:graphic>
      </p:graphicFrame>
      <p:pic>
        <p:nvPicPr>
          <p:cNvPr id="10" name="Picture 9" descr="Employability Dashboard">
            <a:extLst>
              <a:ext uri="{FF2B5EF4-FFF2-40B4-BE49-F238E27FC236}">
                <a16:creationId xmlns:a16="http://schemas.microsoft.com/office/drawing/2014/main" id="{706A3A29-B4DF-00DF-11D0-5F0811813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719" y="125076"/>
            <a:ext cx="1865921" cy="7184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ER DESIGN – RELATIONSHIPS &amp; CARDINALITY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05F6E"/>
                </a:solidFill>
                <a:latin typeface="Aptos"/>
              </a:defRPr>
            </a:pPr>
            <a:r>
              <a:t>Hospital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46304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Relationship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508760"/>
            <a:ext cx="324612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508760"/>
            <a:ext cx="114300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Cardinality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08760"/>
            <a:ext cx="4754880" cy="5029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Simple Explanation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t>Books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057400"/>
            <a:ext cx="3246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t>Patient → Appointment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57400"/>
            <a:ext cx="1143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dirty="0"/>
              <a:t>1 : </a:t>
            </a:r>
            <a:r>
              <a:rPr lang="en-IN" dirty="0"/>
              <a:t>1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903720" y="2057400"/>
            <a:ext cx="4754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dirty="0"/>
              <a:t>One patient can book </a:t>
            </a:r>
            <a:r>
              <a:rPr lang="en-IN" dirty="0"/>
              <a:t>one</a:t>
            </a:r>
            <a:r>
              <a:rPr dirty="0"/>
              <a:t> appointment.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15768"/>
            <a:ext cx="1463040" cy="65836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t>Handles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715768"/>
            <a:ext cx="3246120" cy="65836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t>Doctor → Appointment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715768"/>
            <a:ext cx="1143000" cy="65836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dirty="0"/>
              <a:t>1 : </a:t>
            </a:r>
            <a:r>
              <a:rPr lang="en-IN" dirty="0"/>
              <a:t>1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903720" y="2715768"/>
            <a:ext cx="4754880" cy="65836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dirty="0"/>
              <a:t>One doctor can handle </a:t>
            </a:r>
            <a:r>
              <a:rPr lang="en-IN" dirty="0"/>
              <a:t>one</a:t>
            </a:r>
            <a:r>
              <a:rPr dirty="0"/>
              <a:t> appointment.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74136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t>Works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374136"/>
            <a:ext cx="3246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t>Department → Doctor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3374136"/>
            <a:ext cx="1143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t>1 :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3374136"/>
            <a:ext cx="4754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t>One department can have many doctors.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32504"/>
            <a:ext cx="1463040" cy="65836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t>Gets Admitted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4032504"/>
            <a:ext cx="3246120" cy="65836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t>Patient → Admission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4032504"/>
            <a:ext cx="1143000" cy="65836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rPr dirty="0"/>
              <a:t>1 : </a:t>
            </a:r>
            <a:r>
              <a:rPr lang="en-IN" dirty="0"/>
              <a:t>1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903720" y="4032504"/>
            <a:ext cx="4754880" cy="658368"/>
          </a:xfrm>
          <a:prstGeom prst="rect">
            <a:avLst/>
          </a:prstGeom>
          <a:solidFill>
            <a:srgbClr val="EFF5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rPr dirty="0"/>
              <a:t>One patient can have </a:t>
            </a:r>
            <a:r>
              <a:rPr lang="en-IN" dirty="0"/>
              <a:t>one</a:t>
            </a:r>
            <a:r>
              <a:rPr dirty="0"/>
              <a:t> admission.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90872"/>
            <a:ext cx="14630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92D41"/>
                </a:solidFill>
                <a:latin typeface="Aptos"/>
              </a:defRPr>
            </a:pPr>
            <a:r>
              <a:t>Generates Bill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4690872"/>
            <a:ext cx="32461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t>Patient → Billing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4690872"/>
            <a:ext cx="1143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D41"/>
                </a:solidFill>
                <a:latin typeface="Aptos"/>
              </a:defRPr>
            </a:pPr>
            <a:r>
              <a:t>1 :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4690872"/>
            <a:ext cx="4754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0">
                <a:solidFill>
                  <a:srgbClr val="192D41"/>
                </a:solidFill>
                <a:latin typeface="Aptos"/>
              </a:defRPr>
            </a:pPr>
            <a:r>
              <a:t>One patient can have multiple billing records.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5623560"/>
            <a:ext cx="5349240" cy="685800"/>
          </a:xfrm>
          <a:prstGeom prst="roundRect">
            <a:avLst/>
          </a:prstGeom>
          <a:solidFill>
            <a:srgbClr val="E2ECF7"/>
          </a:solidFill>
          <a:ln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4E79"/>
                </a:solidFill>
                <a:latin typeface="Aptos"/>
              </a:defRPr>
            </a:pPr>
            <a:r>
              <a:t>1 : M  =  One-to-Many     |     1 = One     |     M = Many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5A646E"/>
                </a:solidFill>
                <a:latin typeface="Aptos"/>
              </a:defRPr>
            </a:pPr>
            <a:r>
              <a:t>Billing relationship shown here follows the PPT relational schema: PatientID is the foreign key in BILLING.</a:t>
            </a:r>
          </a:p>
        </p:txBody>
      </p:sp>
      <p:pic>
        <p:nvPicPr>
          <p:cNvPr id="31" name="Picture 30" descr="Employability Dashboard">
            <a:extLst>
              <a:ext uri="{FF2B5EF4-FFF2-40B4-BE49-F238E27FC236}">
                <a16:creationId xmlns:a16="http://schemas.microsoft.com/office/drawing/2014/main" id="{197C2ED7-8F11-37AC-C026-52A7ADC15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3610" y="152836"/>
            <a:ext cx="1865921" cy="7184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RELATIONAL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057400" cy="713232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>
                <a:solidFill>
                  <a:schemeClr val="tx1"/>
                </a:solidFill>
              </a:rPr>
              <a:t>PATIENT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88920" y="1234440"/>
            <a:ext cx="8549640" cy="713232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u="sng" dirty="0" err="1">
                <a:solidFill>
                  <a:schemeClr val="tx1"/>
                </a:solidFill>
              </a:rPr>
              <a:t>PatientID</a:t>
            </a:r>
            <a:r>
              <a:rPr u="sng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(PK), Name, DOB, Gender, </a:t>
            </a:r>
            <a:r>
              <a:rPr dirty="0" err="1">
                <a:solidFill>
                  <a:schemeClr val="tx1"/>
                </a:solidFill>
              </a:rPr>
              <a:t>Ph</a:t>
            </a:r>
            <a:r>
              <a:rPr lang="en-US" dirty="0" err="1">
                <a:solidFill>
                  <a:schemeClr val="tx1"/>
                </a:solidFill>
              </a:rPr>
              <a:t>n_number,Age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947672"/>
            <a:ext cx="2057400" cy="713232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>
                <a:solidFill>
                  <a:schemeClr val="tx1"/>
                </a:solidFill>
              </a:rPr>
              <a:t>DEPARTMENT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947672"/>
            <a:ext cx="8549640" cy="713232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u="sng" dirty="0" err="1">
                <a:solidFill>
                  <a:schemeClr val="tx1"/>
                </a:solidFill>
              </a:rPr>
              <a:t>DepartmentID</a:t>
            </a:r>
            <a:r>
              <a:rPr dirty="0">
                <a:solidFill>
                  <a:schemeClr val="tx1"/>
                </a:solidFill>
              </a:rPr>
              <a:t> (PK), </a:t>
            </a:r>
            <a:r>
              <a:rPr dirty="0" err="1">
                <a:solidFill>
                  <a:schemeClr val="tx1"/>
                </a:solidFill>
              </a:rPr>
              <a:t>DeptName</a:t>
            </a:r>
            <a:r>
              <a:rPr dirty="0">
                <a:solidFill>
                  <a:schemeClr val="tx1"/>
                </a:solidFill>
              </a:rPr>
              <a:t>, 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60904"/>
            <a:ext cx="2057400" cy="713232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>
                <a:solidFill>
                  <a:schemeClr val="tx1"/>
                </a:solidFill>
              </a:rPr>
              <a:t>DOCTOR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660904"/>
            <a:ext cx="8549640" cy="713232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u="sng" dirty="0" err="1">
                <a:solidFill>
                  <a:schemeClr val="tx1"/>
                </a:solidFill>
              </a:rPr>
              <a:t>DoctorID</a:t>
            </a:r>
            <a:r>
              <a:rPr dirty="0">
                <a:solidFill>
                  <a:schemeClr val="tx1"/>
                </a:solidFill>
              </a:rPr>
              <a:t> (PK), Name, Specialization, Ph</a:t>
            </a:r>
            <a:r>
              <a:rPr lang="en-US" dirty="0">
                <a:solidFill>
                  <a:schemeClr val="tx1"/>
                </a:solidFill>
              </a:rPr>
              <a:t>n_number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Consultation_Fee,</a:t>
            </a:r>
            <a:r>
              <a:rPr dirty="0" err="1">
                <a:solidFill>
                  <a:schemeClr val="tx1"/>
                </a:solidFill>
              </a:rPr>
              <a:t>DepartmentID</a:t>
            </a:r>
            <a:r>
              <a:rPr dirty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74136"/>
            <a:ext cx="2057400" cy="713232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>
                <a:solidFill>
                  <a:schemeClr val="tx1"/>
                </a:solidFill>
              </a:rPr>
              <a:t>APPOINTMENT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3374136"/>
            <a:ext cx="8549640" cy="713232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u="sng" dirty="0" err="1">
                <a:solidFill>
                  <a:schemeClr val="tx1"/>
                </a:solidFill>
              </a:rPr>
              <a:t>AppointmentID</a:t>
            </a:r>
            <a:r>
              <a:rPr dirty="0">
                <a:solidFill>
                  <a:schemeClr val="tx1"/>
                </a:solidFill>
              </a:rPr>
              <a:t> (PK), </a:t>
            </a:r>
            <a:r>
              <a:rPr dirty="0" err="1">
                <a:solidFill>
                  <a:schemeClr val="tx1"/>
                </a:solidFill>
              </a:rPr>
              <a:t>PatientID</a:t>
            </a:r>
            <a:r>
              <a:rPr dirty="0">
                <a:solidFill>
                  <a:schemeClr val="tx1"/>
                </a:solidFill>
              </a:rPr>
              <a:t> (FK), </a:t>
            </a:r>
            <a:r>
              <a:rPr dirty="0" err="1">
                <a:solidFill>
                  <a:schemeClr val="tx1"/>
                </a:solidFill>
              </a:rPr>
              <a:t>DoctorID</a:t>
            </a:r>
            <a:r>
              <a:rPr dirty="0">
                <a:solidFill>
                  <a:schemeClr val="tx1"/>
                </a:solidFill>
              </a:rPr>
              <a:t> (FK), Date,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87368"/>
            <a:ext cx="2057400" cy="713232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>
                <a:solidFill>
                  <a:schemeClr val="tx1"/>
                </a:solidFill>
              </a:rPr>
              <a:t>ADMISSION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4087368"/>
            <a:ext cx="8549640" cy="713232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u="sng" dirty="0" err="1">
                <a:solidFill>
                  <a:schemeClr val="tx1"/>
                </a:solidFill>
              </a:rPr>
              <a:t>AdmissionID</a:t>
            </a:r>
            <a:r>
              <a:rPr dirty="0">
                <a:solidFill>
                  <a:schemeClr val="tx1"/>
                </a:solidFill>
              </a:rPr>
              <a:t> (PK), </a:t>
            </a:r>
            <a:r>
              <a:rPr dirty="0" err="1">
                <a:solidFill>
                  <a:schemeClr val="tx1"/>
                </a:solidFill>
              </a:rPr>
              <a:t>PatientID</a:t>
            </a:r>
            <a:r>
              <a:rPr dirty="0">
                <a:solidFill>
                  <a:schemeClr val="tx1"/>
                </a:solidFill>
              </a:rPr>
              <a:t> (FK), </a:t>
            </a:r>
            <a:r>
              <a:rPr dirty="0" err="1">
                <a:solidFill>
                  <a:schemeClr val="tx1"/>
                </a:solidFill>
              </a:rPr>
              <a:t>AdmitDate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DischargeDate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BedNo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4800600"/>
            <a:ext cx="2057400" cy="713232"/>
          </a:xfrm>
          <a:prstGeom prst="rect">
            <a:avLst/>
          </a:prstGeom>
          <a:solidFill>
            <a:srgbClr val="D2E1F0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>
                <a:solidFill>
                  <a:schemeClr val="tx1"/>
                </a:solidFill>
              </a:rPr>
              <a:t>BILLING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800600"/>
            <a:ext cx="8549640" cy="713232"/>
          </a:xfrm>
          <a:prstGeom prst="rect">
            <a:avLst/>
          </a:prstGeom>
          <a:solidFill>
            <a:srgbClr val="F8F8F8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/>
            </a:pPr>
            <a:r>
              <a:rPr u="sng" dirty="0" err="1">
                <a:solidFill>
                  <a:schemeClr val="tx1"/>
                </a:solidFill>
              </a:rPr>
              <a:t>BillID</a:t>
            </a:r>
            <a:r>
              <a:rPr dirty="0">
                <a:solidFill>
                  <a:schemeClr val="tx1"/>
                </a:solidFill>
              </a:rPr>
              <a:t> (PK), </a:t>
            </a:r>
            <a:r>
              <a:rPr dirty="0" err="1">
                <a:solidFill>
                  <a:schemeClr val="tx1"/>
                </a:solidFill>
              </a:rPr>
              <a:t>PatientID</a:t>
            </a:r>
            <a:r>
              <a:rPr dirty="0">
                <a:solidFill>
                  <a:schemeClr val="tx1"/>
                </a:solidFill>
              </a:rPr>
              <a:t> (FK), Amount, Date, </a:t>
            </a:r>
            <a:r>
              <a:rPr dirty="0" err="1">
                <a:solidFill>
                  <a:schemeClr val="tx1"/>
                </a:solidFill>
              </a:rPr>
              <a:t>PaymentStatus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PK = Primary Key    FK = Foreign Key    Foreign keys connect related tables.</a:t>
            </a:r>
          </a:p>
        </p:txBody>
      </p:sp>
      <p:pic>
        <p:nvPicPr>
          <p:cNvPr id="17" name="Picture 16" descr="Employability Dashboard">
            <a:extLst>
              <a:ext uri="{FF2B5EF4-FFF2-40B4-BE49-F238E27FC236}">
                <a16:creationId xmlns:a16="http://schemas.microsoft.com/office/drawing/2014/main" id="{EB2AC249-AADC-2F54-D80F-C1B5FC73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997" y="120831"/>
            <a:ext cx="1865921" cy="7184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D1E1F1-9C8C-9161-FF48-F7E55D42909C}"/>
              </a:ext>
            </a:extLst>
          </p:cNvPr>
          <p:cNvSpPr txBox="1"/>
          <p:nvPr/>
        </p:nvSpPr>
        <p:spPr>
          <a:xfrm>
            <a:off x="-946954" y="351894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IN" sz="2800" dirty="0"/>
              <a:t>ER DIAGRAM</a:t>
            </a:r>
          </a:p>
        </p:txBody>
      </p:sp>
      <p:pic>
        <p:nvPicPr>
          <p:cNvPr id="12" name="Picture 11" descr="Employability Dashboard">
            <a:extLst>
              <a:ext uri="{FF2B5EF4-FFF2-40B4-BE49-F238E27FC236}">
                <a16:creationId xmlns:a16="http://schemas.microsoft.com/office/drawing/2014/main" id="{1AE828B9-2DC6-E7AC-F8E1-48BCA93BD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997" y="153988"/>
            <a:ext cx="1865921" cy="7184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5A04D3-D4D4-4DF1-0D23-744E246F0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081" y="1010652"/>
            <a:ext cx="8679723" cy="52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6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75A"/>
                </a:solidFill>
                <a:latin typeface="Aptos"/>
              </a:defRPr>
            </a:pPr>
            <a:r>
              <a:t>SQL CREATE TABLE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11155680" cy="5623560"/>
          </a:xfrm>
          <a:prstGeom prst="roundRect">
            <a:avLst/>
          </a:prstGeom>
          <a:solidFill>
            <a:srgbClr val="F5F7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075541" y="1852954"/>
            <a:ext cx="4850805" cy="29915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r>
              <a:rPr dirty="0"/>
              <a:t>-- PATIENT</a:t>
            </a:r>
            <a:br>
              <a:rPr dirty="0"/>
            </a:br>
            <a:r>
              <a:rPr dirty="0"/>
              <a:t>CREATE TABLE PATIENT (</a:t>
            </a:r>
            <a:br>
              <a:rPr dirty="0"/>
            </a:br>
            <a:r>
              <a:rPr dirty="0"/>
              <a:t>    </a:t>
            </a:r>
            <a:r>
              <a:rPr dirty="0" err="1"/>
              <a:t>PatientID</a:t>
            </a:r>
            <a:r>
              <a:rPr dirty="0"/>
              <a:t>   VARCHAR2(10),</a:t>
            </a:r>
            <a:br>
              <a:rPr dirty="0"/>
            </a:br>
            <a:r>
              <a:rPr dirty="0"/>
              <a:t>    Name        VARCHAR2(60) NOT NULL,</a:t>
            </a:r>
            <a:br>
              <a:rPr dirty="0"/>
            </a:br>
            <a:r>
              <a:rPr dirty="0"/>
              <a:t>    DOB         DATE NOT NULL,</a:t>
            </a:r>
            <a:br>
              <a:rPr dirty="0"/>
            </a:br>
            <a:r>
              <a:rPr dirty="0"/>
              <a:t>    Gender      CHAR(1)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phn_number</a:t>
            </a:r>
            <a:r>
              <a:rPr dirty="0"/>
              <a:t>  VARCHAR2(10)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pk_patient</a:t>
            </a:r>
            <a:r>
              <a:rPr dirty="0"/>
              <a:t> PRIMARY KEY 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uq_patient_phone</a:t>
            </a:r>
            <a:r>
              <a:rPr dirty="0"/>
              <a:t> UNIQUE (</a:t>
            </a:r>
            <a:r>
              <a:rPr dirty="0" err="1"/>
              <a:t>phn_number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chk_patient_gender</a:t>
            </a:r>
            <a:r>
              <a:rPr dirty="0"/>
              <a:t> CHECK (Gender IN ('M','F','O')),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chk_patient_phone</a:t>
            </a:r>
            <a:r>
              <a:rPr dirty="0"/>
              <a:t> CHECK (</a:t>
            </a:r>
            <a:br>
              <a:rPr dirty="0"/>
            </a:br>
            <a:r>
              <a:rPr dirty="0"/>
              <a:t>        LENGTH(</a:t>
            </a:r>
            <a:r>
              <a:rPr dirty="0" err="1"/>
              <a:t>phn_number</a:t>
            </a:r>
            <a:r>
              <a:rPr dirty="0"/>
              <a:t>) = 10</a:t>
            </a:r>
            <a:br>
              <a:rPr dirty="0"/>
            </a:br>
            <a:r>
              <a:rPr dirty="0"/>
              <a:t>        AND SUBSTR(phn_number,1,1) IN ('6','7','8','9')</a:t>
            </a:r>
            <a:br>
              <a:rPr dirty="0"/>
            </a:br>
            <a:r>
              <a:rPr dirty="0"/>
              <a:t>    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DEPARTMENT</a:t>
            </a:r>
            <a:br>
              <a:rPr dirty="0"/>
            </a:br>
            <a:r>
              <a:rPr dirty="0"/>
              <a:t>CREATE TABLE DEPARTMENT (</a:t>
            </a:r>
            <a:br>
              <a:rPr dirty="0"/>
            </a:br>
            <a:r>
              <a:rPr dirty="0"/>
              <a:t>    </a:t>
            </a:r>
            <a:r>
              <a:rPr dirty="0" err="1"/>
              <a:t>DepartmentID</a:t>
            </a:r>
            <a:r>
              <a:rPr dirty="0"/>
              <a:t>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DeptName</a:t>
            </a:r>
            <a:r>
              <a:rPr dirty="0"/>
              <a:t>     VARCHAR2(60) NOT NULL,</a:t>
            </a:r>
            <a:br>
              <a:rPr dirty="0"/>
            </a:br>
            <a:r>
              <a:rPr dirty="0"/>
              <a:t>    Location     VARCHAR2(100)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pk_department</a:t>
            </a:r>
            <a:r>
              <a:rPr dirty="0"/>
              <a:t> PRIMARY KEY (</a:t>
            </a:r>
            <a:r>
              <a:rPr dirty="0" err="1"/>
              <a:t>DepartmentID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uq_department_name</a:t>
            </a:r>
            <a:r>
              <a:rPr dirty="0"/>
              <a:t> UNIQUE (</a:t>
            </a:r>
            <a:r>
              <a:rPr dirty="0" err="1"/>
              <a:t>DeptName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378"/>
                </a:solidFill>
                <a:latin typeface="Aptos"/>
              </a:defRPr>
            </a:pPr>
            <a:r>
              <a:t>Hospital Management System — DBMS Cornerstone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FBE28-EAE0-5C87-FCE1-E1161BDAA3C4}"/>
              </a:ext>
            </a:extLst>
          </p:cNvPr>
          <p:cNvSpPr txBox="1"/>
          <p:nvPr/>
        </p:nvSpPr>
        <p:spPr>
          <a:xfrm>
            <a:off x="6265656" y="1871650"/>
            <a:ext cx="4290089" cy="31146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r>
              <a:rPr dirty="0"/>
              <a:t>-- DOCTOR</a:t>
            </a:r>
            <a:br>
              <a:rPr dirty="0"/>
            </a:br>
            <a:r>
              <a:rPr dirty="0"/>
              <a:t>CREATE TABLE DOCTOR (</a:t>
            </a:r>
            <a:br>
              <a:rPr dirty="0"/>
            </a:br>
            <a:r>
              <a:rPr dirty="0"/>
              <a:t>    </a:t>
            </a:r>
            <a:r>
              <a:rPr dirty="0" err="1"/>
              <a:t>DoctorID</a:t>
            </a:r>
            <a:r>
              <a:rPr dirty="0"/>
              <a:t>       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Doc_Name</a:t>
            </a:r>
            <a:r>
              <a:rPr dirty="0"/>
              <a:t>          VARCHAR2(60) NOT NULL,</a:t>
            </a:r>
            <a:br>
              <a:rPr dirty="0"/>
            </a:br>
            <a:r>
              <a:rPr dirty="0"/>
              <a:t>    Specialization    VARCHAR2(60)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DepartmentID</a:t>
            </a:r>
            <a:r>
              <a:rPr dirty="0"/>
              <a:t>      VARCHAR2(10) NOT NULL,</a:t>
            </a:r>
            <a:br>
              <a:rPr dirty="0"/>
            </a:br>
            <a:r>
              <a:rPr dirty="0"/>
              <a:t>    Consultation_fee  NUMBER(10,2)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pk_doctor</a:t>
            </a:r>
            <a:r>
              <a:rPr dirty="0"/>
              <a:t> PRIMARY KEY (</a:t>
            </a:r>
            <a:r>
              <a:rPr dirty="0" err="1"/>
              <a:t>DoctorID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fk_doctor_department</a:t>
            </a:r>
            <a:br>
              <a:rPr dirty="0"/>
            </a:br>
            <a:r>
              <a:rPr dirty="0"/>
              <a:t>        FOREIGN KEY (</a:t>
            </a:r>
            <a:r>
              <a:rPr dirty="0" err="1"/>
              <a:t>DepartmentID</a:t>
            </a:r>
            <a:r>
              <a:rPr dirty="0"/>
              <a:t>) REFERENCES DEPARTMENT(</a:t>
            </a:r>
            <a:r>
              <a:rPr dirty="0" err="1"/>
              <a:t>DepartmentID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chk_doctor_fee</a:t>
            </a:r>
            <a:r>
              <a:rPr dirty="0"/>
              <a:t> CHECK (Consultation_fee &gt; 0)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Multivalued doctor phone attribute</a:t>
            </a:r>
            <a:br>
              <a:rPr dirty="0"/>
            </a:br>
            <a:r>
              <a:rPr dirty="0"/>
              <a:t>CREATE TABLE DOCTOR_PHONE (</a:t>
            </a:r>
            <a:br>
              <a:rPr dirty="0"/>
            </a:br>
            <a:r>
              <a:rPr dirty="0"/>
              <a:t>    </a:t>
            </a:r>
            <a:r>
              <a:rPr dirty="0" err="1"/>
              <a:t>DoctorID</a:t>
            </a:r>
            <a:r>
              <a:rPr dirty="0"/>
              <a:t> 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phn_number</a:t>
            </a:r>
            <a:r>
              <a:rPr dirty="0"/>
              <a:t>  VARCHAR2(10),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pk_doctor_phone</a:t>
            </a:r>
            <a:r>
              <a:rPr dirty="0"/>
              <a:t> PRIMARY KEY (</a:t>
            </a:r>
            <a:r>
              <a:rPr dirty="0" err="1"/>
              <a:t>DoctorID</a:t>
            </a:r>
            <a:r>
              <a:rPr dirty="0"/>
              <a:t>, </a:t>
            </a:r>
            <a:r>
              <a:rPr dirty="0" err="1"/>
              <a:t>phn_number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fk_doctor_phone</a:t>
            </a:r>
            <a:br>
              <a:rPr dirty="0"/>
            </a:br>
            <a:r>
              <a:rPr dirty="0"/>
              <a:t>        FOREIGN KEY (</a:t>
            </a:r>
            <a:r>
              <a:rPr dirty="0" err="1"/>
              <a:t>DoctorID</a:t>
            </a:r>
            <a:r>
              <a:rPr dirty="0"/>
              <a:t>) REFERENCES DOCTOR(</a:t>
            </a:r>
            <a:r>
              <a:rPr dirty="0" err="1"/>
              <a:t>DoctorID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chk_doctor_phone</a:t>
            </a:r>
            <a:r>
              <a:rPr dirty="0"/>
              <a:t> CHECK (</a:t>
            </a:r>
            <a:br>
              <a:rPr dirty="0"/>
            </a:br>
            <a:r>
              <a:rPr dirty="0"/>
              <a:t>        LENGTH(</a:t>
            </a:r>
            <a:r>
              <a:rPr dirty="0" err="1"/>
              <a:t>phn_number</a:t>
            </a:r>
            <a:r>
              <a:rPr dirty="0"/>
              <a:t>) = 10</a:t>
            </a:r>
            <a:br>
              <a:rPr dirty="0"/>
            </a:br>
            <a:r>
              <a:rPr dirty="0"/>
              <a:t>        AND SUBSTR(phn_number,1,1) IN ('6','7','8','9')</a:t>
            </a:r>
            <a:br>
              <a:rPr dirty="0"/>
            </a:br>
            <a:r>
              <a:rPr dirty="0"/>
              <a:t>    )</a:t>
            </a:r>
            <a:br>
              <a:rPr dirty="0"/>
            </a:br>
            <a:r>
              <a:rPr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94601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75A"/>
                </a:solidFill>
                <a:latin typeface="Aptos"/>
              </a:defRPr>
            </a:pPr>
            <a:r>
              <a:t>SQL CREATE TABLE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11155680" cy="5623560"/>
          </a:xfrm>
          <a:prstGeom prst="roundRect">
            <a:avLst/>
          </a:prstGeom>
          <a:solidFill>
            <a:srgbClr val="F5F7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3398" y="1256097"/>
            <a:ext cx="7300708" cy="43458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r>
              <a:rPr dirty="0"/>
              <a:t>-- EMPLOYEES supertype</a:t>
            </a:r>
            <a:br>
              <a:rPr dirty="0"/>
            </a:br>
            <a:r>
              <a:rPr dirty="0"/>
              <a:t>CREATE TABLE EMPLOYEES (</a:t>
            </a:r>
            <a:br>
              <a:rPr dirty="0"/>
            </a:br>
            <a:r>
              <a:rPr dirty="0"/>
              <a:t>    </a:t>
            </a:r>
            <a:r>
              <a:rPr dirty="0" err="1"/>
              <a:t>EmployeeID</a:t>
            </a:r>
            <a:r>
              <a:rPr dirty="0"/>
              <a:t>     VARCHAR2(10),</a:t>
            </a:r>
            <a:br>
              <a:rPr dirty="0"/>
            </a:br>
            <a:r>
              <a:rPr dirty="0"/>
              <a:t>    Name           VARCHAR2(60)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DepartmentID</a:t>
            </a:r>
            <a:r>
              <a:rPr dirty="0"/>
              <a:t>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Shift_Timings</a:t>
            </a:r>
            <a:r>
              <a:rPr dirty="0"/>
              <a:t>  VARCHAR2(20)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Phone_Number</a:t>
            </a:r>
            <a:r>
              <a:rPr dirty="0"/>
              <a:t>   VARCHAR2(10)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pk_employees</a:t>
            </a:r>
            <a:r>
              <a:rPr dirty="0"/>
              <a:t> PRIMARY KEY 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fk_employee_department</a:t>
            </a:r>
            <a:br>
              <a:rPr dirty="0"/>
            </a:br>
            <a:r>
              <a:rPr dirty="0"/>
              <a:t>    FOREIGN KEY (</a:t>
            </a:r>
            <a:r>
              <a:rPr dirty="0" err="1"/>
              <a:t>DepartmentID</a:t>
            </a:r>
            <a:r>
              <a:rPr dirty="0"/>
              <a:t>) REFERENCES DEPARTMENT(</a:t>
            </a:r>
            <a:r>
              <a:rPr dirty="0" err="1"/>
              <a:t>DepartmentID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uq_employee_phone</a:t>
            </a:r>
            <a:r>
              <a:rPr dirty="0"/>
              <a:t> UNIQUE (</a:t>
            </a:r>
            <a:r>
              <a:rPr dirty="0" err="1"/>
              <a:t>Phone_Number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chk_employee_phone</a:t>
            </a:r>
            <a:r>
              <a:rPr dirty="0"/>
              <a:t> CHECK (LENGTH(</a:t>
            </a:r>
            <a:r>
              <a:rPr dirty="0" err="1"/>
              <a:t>Phone_Number</a:t>
            </a:r>
            <a:r>
              <a:rPr dirty="0"/>
              <a:t>) = 10 AND SUBSTR(Phone_Number,1,1) IN ('6','7','8','9')),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chk_employee_shift</a:t>
            </a:r>
            <a:r>
              <a:rPr dirty="0"/>
              <a:t> CHECK (</a:t>
            </a:r>
            <a:r>
              <a:rPr dirty="0" err="1"/>
              <a:t>Shift_Timings</a:t>
            </a:r>
            <a:r>
              <a:rPr dirty="0"/>
              <a:t> IN ('</a:t>
            </a:r>
            <a:r>
              <a:rPr dirty="0" err="1"/>
              <a:t>Morning','Evening','Night</a:t>
            </a:r>
            <a:r>
              <a:rPr dirty="0"/>
              <a:t>'))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RECEPTIONIST subtype</a:t>
            </a:r>
            <a:br>
              <a:rPr dirty="0"/>
            </a:br>
            <a:r>
              <a:rPr dirty="0"/>
              <a:t>CREATE TABLE RECEPTIONIST (</a:t>
            </a:r>
            <a:br>
              <a:rPr dirty="0"/>
            </a:br>
            <a:r>
              <a:rPr dirty="0"/>
              <a:t>    </a:t>
            </a:r>
            <a:r>
              <a:rPr dirty="0" err="1"/>
              <a:t>EmployeeID</a:t>
            </a:r>
            <a:r>
              <a:rPr dirty="0"/>
              <a:t>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Desk_Number</a:t>
            </a:r>
            <a:r>
              <a:rPr dirty="0"/>
              <a:t> VARCHAR2(20)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pk_receptionist</a:t>
            </a:r>
            <a:r>
              <a:rPr dirty="0"/>
              <a:t> PRIMARY KEY 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fk_receptionist_employee</a:t>
            </a:r>
            <a:br>
              <a:rPr dirty="0"/>
            </a:br>
            <a:r>
              <a:rPr dirty="0"/>
              <a:t>    FOREIGN KEY (</a:t>
            </a:r>
            <a:r>
              <a:rPr dirty="0" err="1"/>
              <a:t>EmployeeID</a:t>
            </a:r>
            <a:r>
              <a:rPr dirty="0"/>
              <a:t>) REFERENCES EMPLOYEES(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uq_receptionist_desk</a:t>
            </a:r>
            <a:r>
              <a:rPr dirty="0"/>
              <a:t> UNIQUE (</a:t>
            </a:r>
            <a:r>
              <a:rPr dirty="0" err="1"/>
              <a:t>Desk_Number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NURSE subtype</a:t>
            </a:r>
            <a:br>
              <a:rPr dirty="0"/>
            </a:br>
            <a:r>
              <a:rPr dirty="0"/>
              <a:t>CREATE TABLE NURSE (</a:t>
            </a:r>
            <a:br>
              <a:rPr dirty="0"/>
            </a:br>
            <a:r>
              <a:rPr dirty="0"/>
              <a:t>    </a:t>
            </a:r>
            <a:r>
              <a:rPr dirty="0" err="1"/>
              <a:t>EmployeeID</a:t>
            </a:r>
            <a:r>
              <a:rPr dirty="0"/>
              <a:t>       VARCHAR2(10),</a:t>
            </a:r>
            <a:br>
              <a:rPr dirty="0"/>
            </a:br>
            <a:r>
              <a:rPr dirty="0"/>
              <a:t>    Specialization   VARCHAR2(60)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Experience_Years</a:t>
            </a:r>
            <a:r>
              <a:rPr dirty="0"/>
              <a:t> NUMBER(2)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pk_nurse</a:t>
            </a:r>
            <a:r>
              <a:rPr dirty="0"/>
              <a:t> PRIMARY KEY 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fk_nurse_employee</a:t>
            </a:r>
            <a:br>
              <a:rPr dirty="0"/>
            </a:br>
            <a:r>
              <a:rPr dirty="0"/>
              <a:t>    FOREIGN KEY (</a:t>
            </a:r>
            <a:r>
              <a:rPr dirty="0" err="1"/>
              <a:t>EmployeeID</a:t>
            </a:r>
            <a:r>
              <a:rPr dirty="0"/>
              <a:t>) REFERENCES EMPLOYEES(</a:t>
            </a:r>
            <a:r>
              <a:rPr dirty="0" err="1"/>
              <a:t>EmployeeID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chk_nurse_experience</a:t>
            </a:r>
            <a:r>
              <a:rPr dirty="0"/>
              <a:t> CHECK (</a:t>
            </a:r>
            <a:r>
              <a:rPr dirty="0" err="1"/>
              <a:t>Experience_Years</a:t>
            </a:r>
            <a:r>
              <a:rPr dirty="0"/>
              <a:t> &gt;= 0 AND </a:t>
            </a:r>
            <a:r>
              <a:rPr dirty="0" err="1"/>
              <a:t>Experience_Years</a:t>
            </a:r>
            <a:r>
              <a:rPr dirty="0"/>
              <a:t> &lt;= 50)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378"/>
                </a:solidFill>
                <a:latin typeface="Aptos"/>
              </a:defRPr>
            </a:pPr>
            <a:r>
              <a:t>Hospital Management System — DBMS Cornerstone Project</a:t>
            </a:r>
          </a:p>
        </p:txBody>
      </p:sp>
    </p:spTree>
    <p:extLst>
      <p:ext uri="{BB962C8B-B14F-4D97-AF65-F5344CB8AC3E}">
        <p14:creationId xmlns:p14="http://schemas.microsoft.com/office/powerpoint/2010/main" val="170815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75A"/>
                </a:solidFill>
                <a:latin typeface="Aptos"/>
              </a:defRPr>
            </a:pPr>
            <a:r>
              <a:t>SQL CREATE TABLE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11155680" cy="5623560"/>
          </a:xfrm>
          <a:prstGeom prst="roundRect">
            <a:avLst/>
          </a:prstGeom>
          <a:solidFill>
            <a:srgbClr val="F5F7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4168" y="854964"/>
            <a:ext cx="7732028" cy="5468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>
                <a:solidFill>
                  <a:srgbClr val="191E23"/>
                </a:solidFill>
                <a:latin typeface="Consolas"/>
              </a:defRPr>
            </a:pPr>
            <a:r>
              <a:rPr dirty="0"/>
              <a:t>-- APPOINTMENT</a:t>
            </a:r>
            <a:br>
              <a:rPr dirty="0"/>
            </a:br>
            <a:r>
              <a:rPr dirty="0"/>
              <a:t>-- 1:1 Patient-Appointment and 1:1 Doctor-Appointment as shown in ER</a:t>
            </a:r>
            <a:br>
              <a:rPr dirty="0"/>
            </a:br>
            <a:r>
              <a:rPr dirty="0"/>
              <a:t>-- </a:t>
            </a:r>
            <a:r>
              <a:rPr dirty="0" err="1"/>
              <a:t>Doc_Name</a:t>
            </a:r>
            <a:r>
              <a:rPr dirty="0"/>
              <a:t> is intentionally removed for 3NF.</a:t>
            </a:r>
            <a:br>
              <a:rPr dirty="0"/>
            </a:br>
            <a:r>
              <a:rPr dirty="0"/>
              <a:t>CREATE TABLE APPOINTMENT (</a:t>
            </a:r>
            <a:br>
              <a:rPr dirty="0"/>
            </a:br>
            <a:r>
              <a:rPr dirty="0"/>
              <a:t>    </a:t>
            </a:r>
            <a:r>
              <a:rPr dirty="0" err="1"/>
              <a:t>AppointmentID</a:t>
            </a:r>
            <a:r>
              <a:rPr dirty="0"/>
              <a:t> 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PatientID</a:t>
            </a:r>
            <a:r>
              <a:rPr dirty="0"/>
              <a:t>     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DoctorID</a:t>
            </a:r>
            <a:r>
              <a:rPr dirty="0"/>
              <a:t>      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Appointment_Date</a:t>
            </a:r>
            <a:r>
              <a:rPr dirty="0"/>
              <a:t> DATE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Appointment_Time</a:t>
            </a:r>
            <a:r>
              <a:rPr dirty="0"/>
              <a:t> VARCHAR2(5)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pk_appointment</a:t>
            </a:r>
            <a:r>
              <a:rPr dirty="0"/>
              <a:t> PRIMARY KEY (</a:t>
            </a:r>
            <a:r>
              <a:rPr dirty="0" err="1"/>
              <a:t>AppointmentID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fk_appointment_patient</a:t>
            </a:r>
            <a:r>
              <a:rPr dirty="0"/>
              <a:t> FOREIGN KEY (</a:t>
            </a:r>
            <a:r>
              <a:rPr dirty="0" err="1"/>
              <a:t>PatientID</a:t>
            </a:r>
            <a:r>
              <a:rPr dirty="0"/>
              <a:t>) REFERENCES PATIENT(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fk_appointment_doctor</a:t>
            </a:r>
            <a:r>
              <a:rPr dirty="0"/>
              <a:t> FOREIGN KEY (</a:t>
            </a:r>
            <a:r>
              <a:rPr dirty="0" err="1"/>
              <a:t>DoctorID</a:t>
            </a:r>
            <a:r>
              <a:rPr dirty="0"/>
              <a:t>) REFERENCES DOCTOR(</a:t>
            </a:r>
            <a:r>
              <a:rPr dirty="0" err="1"/>
              <a:t>DoctorID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uq_appointment_patient</a:t>
            </a:r>
            <a:r>
              <a:rPr dirty="0"/>
              <a:t> UNIQUE 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uq_appointment_doctor</a:t>
            </a:r>
            <a:r>
              <a:rPr dirty="0"/>
              <a:t> UNIQUE (</a:t>
            </a:r>
            <a:r>
              <a:rPr dirty="0" err="1"/>
              <a:t>DoctorID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ADMISSION</a:t>
            </a:r>
            <a:br>
              <a:rPr dirty="0"/>
            </a:br>
            <a:r>
              <a:rPr dirty="0"/>
              <a:t>-- 1:1 Patient-Admission as shown in ER</a:t>
            </a:r>
            <a:br>
              <a:rPr dirty="0"/>
            </a:br>
            <a:r>
              <a:rPr dirty="0"/>
              <a:t>CREATE TABLE ADMISSION (</a:t>
            </a:r>
            <a:br>
              <a:rPr dirty="0"/>
            </a:br>
            <a:r>
              <a:rPr dirty="0"/>
              <a:t>    </a:t>
            </a:r>
            <a:r>
              <a:rPr dirty="0" err="1"/>
              <a:t>AdmissionID</a:t>
            </a:r>
            <a:r>
              <a:rPr dirty="0"/>
              <a:t>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PatientID</a:t>
            </a:r>
            <a:r>
              <a:rPr dirty="0"/>
              <a:t>  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AdmitDate</a:t>
            </a:r>
            <a:r>
              <a:rPr dirty="0"/>
              <a:t>     DATE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DischargeDate</a:t>
            </a:r>
            <a:r>
              <a:rPr dirty="0"/>
              <a:t> DATE,</a:t>
            </a:r>
            <a:br>
              <a:rPr dirty="0"/>
            </a:br>
            <a:r>
              <a:rPr dirty="0"/>
              <a:t>    </a:t>
            </a:r>
            <a:r>
              <a:rPr dirty="0" err="1"/>
              <a:t>BedNo</a:t>
            </a:r>
            <a:r>
              <a:rPr dirty="0"/>
              <a:t>         VARCHAR2(20)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pk_admission</a:t>
            </a:r>
            <a:r>
              <a:rPr dirty="0"/>
              <a:t> PRIMARY KEY (</a:t>
            </a:r>
            <a:r>
              <a:rPr dirty="0" err="1"/>
              <a:t>AdmissionID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fk_admission_patient</a:t>
            </a:r>
            <a:br>
              <a:rPr dirty="0"/>
            </a:br>
            <a:r>
              <a:rPr dirty="0"/>
              <a:t>    FOREIGN KEY (</a:t>
            </a:r>
            <a:r>
              <a:rPr dirty="0" err="1"/>
              <a:t>PatientID</a:t>
            </a:r>
            <a:r>
              <a:rPr dirty="0"/>
              <a:t>) REFERENCES PATIENT(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uq_admission_patient</a:t>
            </a:r>
            <a:r>
              <a:rPr dirty="0"/>
              <a:t> UNIQUE 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chk_admission_dates</a:t>
            </a:r>
            <a:r>
              <a:rPr dirty="0"/>
              <a:t> CHECK (</a:t>
            </a:r>
            <a:r>
              <a:rPr dirty="0" err="1"/>
              <a:t>DischargeDate</a:t>
            </a:r>
            <a:r>
              <a:rPr dirty="0"/>
              <a:t> IS NULL OR </a:t>
            </a:r>
            <a:r>
              <a:rPr dirty="0" err="1"/>
              <a:t>DischargeDate</a:t>
            </a:r>
            <a:r>
              <a:rPr dirty="0"/>
              <a:t> &gt;= </a:t>
            </a:r>
            <a:r>
              <a:rPr dirty="0" err="1"/>
              <a:t>AdmitDate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-- BILLING</a:t>
            </a:r>
            <a:br>
              <a:rPr dirty="0"/>
            </a:br>
            <a:r>
              <a:rPr dirty="0"/>
              <a:t>-- 1:N Patient-Billing as shown in ER</a:t>
            </a:r>
            <a:br>
              <a:rPr dirty="0"/>
            </a:br>
            <a:r>
              <a:rPr dirty="0"/>
              <a:t>CREATE TABLE BILLING (</a:t>
            </a:r>
            <a:br>
              <a:rPr dirty="0"/>
            </a:br>
            <a:r>
              <a:rPr dirty="0"/>
              <a:t>    </a:t>
            </a:r>
            <a:r>
              <a:rPr dirty="0" err="1"/>
              <a:t>BillID</a:t>
            </a:r>
            <a:r>
              <a:rPr dirty="0"/>
              <a:t>        VARCHAR2(10),</a:t>
            </a:r>
            <a:br>
              <a:rPr dirty="0"/>
            </a:br>
            <a:r>
              <a:rPr dirty="0"/>
              <a:t>    </a:t>
            </a:r>
            <a:r>
              <a:rPr dirty="0" err="1"/>
              <a:t>PatientID</a:t>
            </a:r>
            <a:r>
              <a:rPr dirty="0"/>
              <a:t>     VARCHAR2(10)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Billing_Date</a:t>
            </a:r>
            <a:r>
              <a:rPr dirty="0"/>
              <a:t>  DATE NOT NULL,</a:t>
            </a:r>
            <a:br>
              <a:rPr dirty="0"/>
            </a:br>
            <a:r>
              <a:rPr dirty="0"/>
              <a:t>    Amount        NUMBER(10,2) NOT NULL,</a:t>
            </a:r>
            <a:br>
              <a:rPr dirty="0"/>
            </a:br>
            <a:r>
              <a:rPr dirty="0"/>
              <a:t>    </a:t>
            </a:r>
            <a:r>
              <a:rPr dirty="0" err="1"/>
              <a:t>PaymentStatus</a:t>
            </a:r>
            <a:r>
              <a:rPr dirty="0"/>
              <a:t> VARCHAR2(15) NOT NULL,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pk_billing</a:t>
            </a:r>
            <a:r>
              <a:rPr dirty="0"/>
              <a:t> PRIMARY KEY (</a:t>
            </a:r>
            <a:r>
              <a:rPr dirty="0" err="1"/>
              <a:t>BillID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fk_billing_patient</a:t>
            </a:r>
            <a:r>
              <a:rPr dirty="0"/>
              <a:t> FOREIGN KEY (</a:t>
            </a:r>
            <a:r>
              <a:rPr dirty="0" err="1"/>
              <a:t>PatientID</a:t>
            </a:r>
            <a:r>
              <a:rPr dirty="0"/>
              <a:t>) REFERENCES PATIENT(</a:t>
            </a:r>
            <a:r>
              <a:rPr dirty="0" err="1"/>
              <a:t>PatientID</a:t>
            </a:r>
            <a:r>
              <a:rPr dirty="0"/>
              <a:t>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chk_billing_amount</a:t>
            </a:r>
            <a:r>
              <a:rPr dirty="0"/>
              <a:t> CHECK (Amount &gt; 0),</a:t>
            </a:r>
            <a:br>
              <a:rPr dirty="0"/>
            </a:br>
            <a:r>
              <a:rPr dirty="0"/>
              <a:t>    CONSTRAINT </a:t>
            </a:r>
            <a:r>
              <a:rPr dirty="0" err="1"/>
              <a:t>chk_payment_status</a:t>
            </a:r>
            <a:r>
              <a:rPr dirty="0"/>
              <a:t> CHECK (</a:t>
            </a:r>
            <a:r>
              <a:rPr dirty="0" err="1"/>
              <a:t>PaymentStatus</a:t>
            </a:r>
            <a:r>
              <a:rPr dirty="0"/>
              <a:t> IN ('PAID','PENDING'))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378"/>
                </a:solidFill>
                <a:latin typeface="Aptos"/>
              </a:defRPr>
            </a:pPr>
            <a:r>
              <a:t>Hospital Management System — DBMS Cornerstone Project</a:t>
            </a:r>
          </a:p>
        </p:txBody>
      </p:sp>
    </p:spTree>
    <p:extLst>
      <p:ext uri="{BB962C8B-B14F-4D97-AF65-F5344CB8AC3E}">
        <p14:creationId xmlns:p14="http://schemas.microsoft.com/office/powerpoint/2010/main" val="1088721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1. Display All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* FROM PATIENT;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PATIENTID   NAME             DOB          GENDER   PHN_NUMBER</a:t>
            </a:r>
            <a:br>
              <a:rPr dirty="0"/>
            </a:br>
            <a:r>
              <a:rPr dirty="0"/>
              <a:t>P001        Ravi Kumar       15-JUN-2001   M        9876543210</a:t>
            </a:r>
            <a:br>
              <a:rPr dirty="0"/>
            </a:br>
            <a:r>
              <a:rPr dirty="0"/>
              <a:t>P002        Anjali Reddy     22-AUG-1999   F        9123456780</a:t>
            </a:r>
            <a:br>
              <a:rPr dirty="0"/>
            </a:br>
            <a:r>
              <a:rPr dirty="0"/>
              <a:t>P003        Kiran Rao        10-JAN-2003   M        9988776655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2. Display Patient Names and Phone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Name, </a:t>
            </a:r>
            <a:r>
              <a:rPr dirty="0" err="1"/>
              <a:t>phn_number</a:t>
            </a:r>
            <a:br>
              <a:rPr dirty="0"/>
            </a:br>
            <a:r>
              <a:rPr dirty="0"/>
              <a:t>FROM PATIENT;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NAME             PHN_NUMBER</a:t>
            </a:r>
            <a:br>
              <a:rPr dirty="0"/>
            </a:br>
            <a:r>
              <a:rPr dirty="0"/>
              <a:t>Ravi Kumar       9876543210</a:t>
            </a:r>
            <a:br>
              <a:rPr dirty="0"/>
            </a:br>
            <a:r>
              <a:rPr dirty="0"/>
              <a:t>Anjali Reddy     9123456780</a:t>
            </a:r>
            <a:br>
              <a:rPr dirty="0"/>
            </a:br>
            <a:r>
              <a:rPr dirty="0"/>
              <a:t>Kiran Rao        9988776655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3. Find Female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PATIENT</a:t>
            </a:r>
            <a:br>
              <a:rPr dirty="0"/>
            </a:br>
            <a:r>
              <a:rPr dirty="0"/>
              <a:t>WHERE Gender = 'F';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   DOB          GENDER   PHN_NUMBER</a:t>
            </a:r>
            <a:br/>
            <a:r>
              <a:t>P002        Anjali Reddy     22-AUG-1999   F        9123456780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4. Find Patients Born After 2000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PATIENT</a:t>
            </a:r>
            <a:br>
              <a:rPr dirty="0"/>
            </a:br>
            <a:r>
              <a:rPr dirty="0"/>
              <a:t>WHERE DOB &gt; DATE '2000-01-01';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   DOB          GENDER   PHN_NUMBER</a:t>
            </a:r>
            <a:br/>
            <a:r>
              <a:t>P001        Ravi Kumar       15-JUN-2001   M        9876543210</a:t>
            </a:r>
            <a:br/>
            <a:r>
              <a:t>P003        Kiran Rao        10-JAN-2003   M        9988776655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5. Sort Patients by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PATIENT</a:t>
            </a:r>
            <a:br>
              <a:rPr dirty="0"/>
            </a:br>
            <a:r>
              <a:rPr dirty="0"/>
              <a:t>ORDER BY Name ASC;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   DOB          GENDER   PHN_NUMBER</a:t>
            </a:r>
            <a:br/>
            <a:r>
              <a:t>P002        Anjali Reddy     22-AUG-1999   F        9123456780</a:t>
            </a:r>
            <a:br/>
            <a:r>
              <a:t>P003        Kiran Rao        10-JAN-2003   M        9988776655</a:t>
            </a:r>
            <a:br/>
            <a:r>
              <a:t>P001        Ravi Kumar       15-JUN-2001   M        9876543210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6. Count Total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COUNT(*) AS </a:t>
            </a:r>
            <a:r>
              <a:rPr dirty="0" err="1"/>
              <a:t>Total_Patients</a:t>
            </a:r>
            <a:br>
              <a:rPr dirty="0"/>
            </a:br>
            <a:r>
              <a:rPr dirty="0"/>
              <a:t>FROM PATIENT;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TOTAL_PATIENTS</a:t>
            </a:r>
            <a:br/>
            <a: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7. Display Unique Genders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Basic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DISTINCT Gender</a:t>
            </a:r>
            <a:br>
              <a:rPr dirty="0"/>
            </a:br>
            <a:r>
              <a:rPr dirty="0"/>
              <a:t>FROM PATIENT;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GENDER</a:t>
            </a:r>
            <a:br/>
            <a:r>
              <a:t>F</a:t>
            </a:r>
            <a:br/>
            <a:r>
              <a:t>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3996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8</a:t>
            </a:r>
            <a:r>
              <a:rPr dirty="0"/>
              <a:t>. Patient Details with Appointment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dirty="0"/>
              <a:t>SELECT </a:t>
            </a:r>
            <a:r>
              <a:rPr dirty="0" err="1"/>
              <a:t>p.PatientID</a:t>
            </a:r>
            <a:r>
              <a:rPr dirty="0"/>
              <a:t>, </a:t>
            </a:r>
            <a:r>
              <a:rPr dirty="0" err="1"/>
              <a:t>p.Name</a:t>
            </a:r>
            <a:r>
              <a:rPr dirty="0"/>
              <a:t>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a.AppointmentID</a:t>
            </a:r>
            <a:r>
              <a:rPr dirty="0"/>
              <a:t>, </a:t>
            </a:r>
            <a:r>
              <a:rPr dirty="0" err="1"/>
              <a:t>a.AppointmentDate</a:t>
            </a:r>
            <a:br>
              <a:rPr dirty="0"/>
            </a:br>
            <a:r>
              <a:rPr dirty="0"/>
              <a:t>FROM PATIENT p</a:t>
            </a:r>
            <a:br>
              <a:rPr dirty="0"/>
            </a:br>
            <a:r>
              <a:rPr dirty="0"/>
              <a:t>JOIN APPOINTMENT a</a:t>
            </a:r>
            <a:br>
              <a:rPr dirty="0"/>
            </a:br>
            <a:r>
              <a:rPr dirty="0"/>
              <a:t>ON </a:t>
            </a:r>
            <a:r>
              <a:rPr dirty="0" err="1"/>
              <a:t>p.PatientID</a:t>
            </a:r>
            <a:r>
              <a:rPr dirty="0"/>
              <a:t> = </a:t>
            </a:r>
            <a:r>
              <a:rPr dirty="0" err="1"/>
              <a:t>a.PatientID</a:t>
            </a:r>
            <a:r>
              <a:rPr dirty="0"/>
              <a:t>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APPOINTMENTID   APPOINTMENTDATE</a:t>
            </a:r>
            <a:br/>
            <a:r>
              <a:t>P001        Ravi Kumar    A101            20-SEP-2026</a:t>
            </a:r>
            <a:br/>
            <a:r>
              <a:t>P002        Anjali Reddy  A102            21-SEP-2026</a:t>
            </a:r>
            <a:br/>
            <a:r>
              <a:t>P003        Kiran Rao     A103            22-SEP-2026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2309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9</a:t>
            </a:r>
            <a:r>
              <a:rPr dirty="0"/>
              <a:t>. Doctors and Their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SELECT </a:t>
            </a:r>
            <a:r>
              <a:rPr lang="en-US" dirty="0" err="1"/>
              <a:t>d.DoctorID</a:t>
            </a:r>
            <a:r>
              <a:rPr lang="en-US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       </a:t>
            </a:r>
            <a:r>
              <a:rPr lang="en-US" dirty="0" err="1"/>
              <a:t>d.Doc_Name</a:t>
            </a:r>
            <a:r>
              <a:rPr lang="en-US" dirty="0"/>
              <a:t> AS </a:t>
            </a:r>
            <a:r>
              <a:rPr lang="en-US" dirty="0" err="1"/>
              <a:t>Doctor_Name</a:t>
            </a:r>
            <a:r>
              <a:rPr lang="en-US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       </a:t>
            </a:r>
            <a:r>
              <a:rPr lang="en-US" dirty="0" err="1"/>
              <a:t>dept.DeptName</a:t>
            </a:r>
            <a:endParaRPr lang="en-US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FROM DOCTOR 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JOIN DEPARTMENT dept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ON </a:t>
            </a:r>
            <a:r>
              <a:rPr lang="en-US" dirty="0" err="1"/>
              <a:t>d.DepartmentID</a:t>
            </a:r>
            <a:r>
              <a:rPr lang="en-US" dirty="0"/>
              <a:t> = </a:t>
            </a:r>
            <a:r>
              <a:rPr lang="en-US" dirty="0" err="1"/>
              <a:t>dept.DepartmentID</a:t>
            </a:r>
            <a:r>
              <a:rPr lang="en-US" dirty="0"/>
              <a:t>;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DOCTORID   DOCTOR_NAME       DEPARTMENTNAME</a:t>
            </a:r>
            <a:br/>
            <a:r>
              <a:t>D001       Dr. Suresh       Cardiology</a:t>
            </a:r>
            <a:br/>
            <a:r>
              <a:t>D002       Dr. Priya        Neurology</a:t>
            </a:r>
            <a:br/>
            <a:r>
              <a:t>D003       Dr. Arjun        Orthopedics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9241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10</a:t>
            </a:r>
            <a:r>
              <a:rPr dirty="0"/>
              <a:t>. Number of Appointments for Each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527" y="1005840"/>
            <a:ext cx="11155680" cy="2468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  <a:endParaRPr lang="en-IN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SELECT </a:t>
            </a:r>
            <a:r>
              <a:rPr lang="en-IN" dirty="0" err="1"/>
              <a:t>d.DoctorID</a:t>
            </a:r>
            <a:r>
              <a:rPr lang="en-IN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       </a:t>
            </a:r>
            <a:r>
              <a:rPr lang="en-US" dirty="0" err="1"/>
              <a:t>d.Doc_Name</a:t>
            </a:r>
            <a:r>
              <a:rPr lang="en-US" dirty="0"/>
              <a:t> AS </a:t>
            </a:r>
            <a:r>
              <a:rPr lang="en-US" dirty="0" err="1"/>
              <a:t>Doctor_Name</a:t>
            </a:r>
            <a:r>
              <a:rPr lang="en-US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       COUNT(</a:t>
            </a:r>
            <a:r>
              <a:rPr lang="en-US" dirty="0" err="1"/>
              <a:t>a.AppointmentID</a:t>
            </a:r>
            <a:r>
              <a:rPr lang="en-US" dirty="0"/>
              <a:t>) AS </a:t>
            </a:r>
            <a:r>
              <a:rPr lang="en-US" dirty="0" err="1"/>
              <a:t>Total_Appointments</a:t>
            </a:r>
            <a:endParaRPr lang="en-US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FROM DOCTOR 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LEFT JOIN APPOINTMENT a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ON </a:t>
            </a:r>
            <a:r>
              <a:rPr lang="en-US" dirty="0" err="1"/>
              <a:t>d.DoctorID</a:t>
            </a:r>
            <a:r>
              <a:rPr lang="en-US" dirty="0"/>
              <a:t> = </a:t>
            </a:r>
            <a:r>
              <a:rPr lang="en-US" dirty="0" err="1"/>
              <a:t>a.DoctorID</a:t>
            </a:r>
            <a:endParaRPr lang="en-US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GROUP BY </a:t>
            </a:r>
            <a:r>
              <a:rPr lang="en-US" dirty="0" err="1"/>
              <a:t>d.DoctorID</a:t>
            </a:r>
            <a:r>
              <a:rPr lang="en-US" dirty="0"/>
              <a:t>, </a:t>
            </a:r>
            <a:r>
              <a:rPr lang="en-US" dirty="0" err="1"/>
              <a:t>d.Doc_Name</a:t>
            </a:r>
            <a:r>
              <a:rPr lang="en-US" dirty="0"/>
              <a:t>;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DOCTORID   DOCTOR_NAME       TOTAL_APPOINTMENTS</a:t>
            </a:r>
            <a:br/>
            <a:r>
              <a:t>D001       Dr. Suresh       12</a:t>
            </a:r>
            <a:br/>
            <a:r>
              <a:t>D002       Dr. Priya        8</a:t>
            </a:r>
            <a:br/>
            <a:r>
              <a:t>D003       Dr. Arjun       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9310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11</a:t>
            </a:r>
            <a:r>
              <a:rPr dirty="0"/>
              <a:t>. Patients and Their Total Bills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2240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SQL QUERY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SELECT </a:t>
            </a:r>
            <a:r>
              <a:rPr lang="en-IN" dirty="0" err="1"/>
              <a:t>p.PatientID</a:t>
            </a:r>
            <a:r>
              <a:rPr lang="en-IN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       </a:t>
            </a:r>
            <a:r>
              <a:rPr lang="en-IN" dirty="0" err="1"/>
              <a:t>p.Name</a:t>
            </a:r>
            <a:r>
              <a:rPr lang="en-IN" dirty="0"/>
              <a:t>,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       SUM(</a:t>
            </a:r>
            <a:r>
              <a:rPr lang="en-IN" dirty="0" err="1"/>
              <a:t>b.Amount</a:t>
            </a:r>
            <a:r>
              <a:rPr lang="en-IN" dirty="0"/>
              <a:t>) AS </a:t>
            </a:r>
            <a:r>
              <a:rPr lang="en-IN" dirty="0" err="1"/>
              <a:t>Total_Bill</a:t>
            </a:r>
            <a:endParaRPr lang="en-IN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FROM PATIENT p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JOIN BILLING b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ON </a:t>
            </a:r>
            <a:r>
              <a:rPr lang="en-IN" dirty="0" err="1"/>
              <a:t>p.PatientID</a:t>
            </a:r>
            <a:r>
              <a:rPr lang="en-IN" dirty="0"/>
              <a:t> = </a:t>
            </a:r>
            <a:r>
              <a:rPr lang="en-IN" dirty="0" err="1"/>
              <a:t>b.PatientID</a:t>
            </a:r>
            <a:endParaRPr lang="en-IN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GROUP BY </a:t>
            </a:r>
            <a:r>
              <a:rPr lang="en-IN" dirty="0" err="1"/>
              <a:t>p.PatientID</a:t>
            </a:r>
            <a:r>
              <a:rPr lang="en-IN" dirty="0"/>
              <a:t>, </a:t>
            </a:r>
            <a:r>
              <a:rPr lang="en-IN" dirty="0" err="1"/>
              <a:t>p.Name</a:t>
            </a:r>
            <a:r>
              <a:rPr lang="en-IN" dirty="0"/>
              <a:t>;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55680" cy="2514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t>PATIENTID   NAME           TOTAL_BILL</a:t>
            </a:r>
            <a:br/>
            <a:r>
              <a:t>P001        Ravi Kumar     12500</a:t>
            </a:r>
            <a:br/>
            <a:r>
              <a:t>P002        Anjali Reddy   8700</a:t>
            </a:r>
            <a:br/>
            <a:r>
              <a:t>P003        Kiran Rao      15300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8414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12</a:t>
            </a:r>
            <a:r>
              <a:rPr dirty="0"/>
              <a:t>. Doctors with More Appointments Than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155680" cy="26958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SELECT </a:t>
            </a:r>
            <a:r>
              <a:rPr lang="en-IN" sz="1200" dirty="0" err="1"/>
              <a:t>d.DoctorID</a:t>
            </a:r>
            <a:r>
              <a:rPr lang="en-IN" sz="1200" dirty="0"/>
              <a:t>, </a:t>
            </a:r>
            <a:r>
              <a:rPr lang="en-IN" sz="1200" dirty="0" err="1"/>
              <a:t>d.Doc_Name</a:t>
            </a:r>
            <a:r>
              <a:rPr lang="en-IN" sz="1200" dirty="0"/>
              <a:t> AS </a:t>
            </a:r>
            <a:r>
              <a:rPr lang="en-IN" sz="1200" dirty="0" err="1"/>
              <a:t>Doctor_Name</a:t>
            </a:r>
            <a:r>
              <a:rPr lang="en-IN" sz="1200" dirty="0"/>
              <a:t>, </a:t>
            </a:r>
            <a:r>
              <a:rPr lang="en-IN" sz="1200" dirty="0" err="1"/>
              <a:t>d.Specialization,d.Consultation_fee</a:t>
            </a:r>
            <a:endParaRPr lang="en-IN" sz="1200" dirty="0"/>
          </a:p>
          <a:p>
            <a:r>
              <a:rPr lang="en-IN" sz="1200" dirty="0"/>
              <a:t>FROM DOCTOR d WHERE</a:t>
            </a:r>
          </a:p>
          <a:p>
            <a:r>
              <a:rPr lang="en-IN" sz="1200" dirty="0"/>
              <a:t> </a:t>
            </a:r>
            <a:r>
              <a:rPr lang="en-IN" sz="1200" dirty="0" err="1"/>
              <a:t>d.Consultation_fee</a:t>
            </a:r>
            <a:r>
              <a:rPr lang="en-IN" sz="1200" dirty="0"/>
              <a:t> &gt; (SELECT AVG(Consultation_fee) </a:t>
            </a:r>
          </a:p>
          <a:p>
            <a:r>
              <a:rPr lang="en-IN" sz="1200" dirty="0"/>
              <a:t> FROM DOCTOR)</a:t>
            </a:r>
          </a:p>
          <a:p>
            <a:r>
              <a:rPr lang="en-IN" sz="1200" dirty="0"/>
              <a:t>ORDER BY </a:t>
            </a:r>
            <a:r>
              <a:rPr lang="en-IN" sz="1200" dirty="0" err="1"/>
              <a:t>d.Consultation_fee</a:t>
            </a:r>
            <a:r>
              <a:rPr lang="en-IN" sz="1200" dirty="0"/>
              <a:t>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069080"/>
            <a:ext cx="11155680" cy="21360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DOCTORID   DOCTOR_NAME              SPECIALIZATION           CONSULTATION_FEE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---------- ------------------------ ----------------   ------------------------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DR012      Dr. Priyanka Menon         Oncologist                       1000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DR008      Dr. Sanjay Verma           General Surgeon                   900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DR014      Dr. Nitin Joshi            Radiologist                       900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DR002      Dr. Neha Sharma            Neurologist                       850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5523-0556-5646-4B2A-EA135B95E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E1BF59-81DB-EF7F-4EF2-AD5F1C72CFFB}"/>
              </a:ext>
            </a:extLst>
          </p:cNvPr>
          <p:cNvSpPr txBox="1"/>
          <p:nvPr/>
        </p:nvSpPr>
        <p:spPr>
          <a:xfrm>
            <a:off x="502920" y="228600"/>
            <a:ext cx="79818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/>
              <a:t>13. Patients with bills above the average bill amount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73CAD-F844-BC99-30C5-7446C461507A}"/>
              </a:ext>
            </a:extLst>
          </p:cNvPr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48AB0B-1FBD-BF3F-3040-1198A0036C8A}"/>
              </a:ext>
            </a:extLst>
          </p:cNvPr>
          <p:cNvSpPr/>
          <p:nvPr/>
        </p:nvSpPr>
        <p:spPr>
          <a:xfrm>
            <a:off x="457200" y="1188720"/>
            <a:ext cx="11155680" cy="26958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SELECT </a:t>
            </a:r>
            <a:r>
              <a:rPr lang="en-IN" sz="1200" dirty="0" err="1"/>
              <a:t>p.PatientID</a:t>
            </a:r>
            <a:r>
              <a:rPr lang="en-IN" sz="1200" dirty="0"/>
              <a:t>,</a:t>
            </a:r>
          </a:p>
          <a:p>
            <a:r>
              <a:rPr lang="en-IN" sz="1200" dirty="0"/>
              <a:t>       </a:t>
            </a:r>
            <a:r>
              <a:rPr lang="en-IN" sz="1200" dirty="0" err="1"/>
              <a:t>p.Name</a:t>
            </a:r>
            <a:r>
              <a:rPr lang="en-IN" sz="1200" dirty="0"/>
              <a:t> AS </a:t>
            </a:r>
            <a:r>
              <a:rPr lang="en-IN" sz="1200" dirty="0" err="1"/>
              <a:t>Patient_Name</a:t>
            </a:r>
            <a:r>
              <a:rPr lang="en-IN" sz="1200" dirty="0"/>
              <a:t>,</a:t>
            </a:r>
          </a:p>
          <a:p>
            <a:r>
              <a:rPr lang="en-IN" sz="1200" dirty="0"/>
              <a:t>       </a:t>
            </a:r>
            <a:r>
              <a:rPr lang="en-IN" sz="1200" dirty="0" err="1"/>
              <a:t>b.Amount</a:t>
            </a:r>
            <a:r>
              <a:rPr lang="en-IN" sz="1200" dirty="0"/>
              <a:t>,</a:t>
            </a:r>
          </a:p>
          <a:p>
            <a:r>
              <a:rPr lang="en-IN" sz="1200" dirty="0"/>
              <a:t>       </a:t>
            </a:r>
            <a:r>
              <a:rPr lang="en-IN" sz="1200" dirty="0" err="1"/>
              <a:t>b.PaymentStatus</a:t>
            </a:r>
            <a:endParaRPr lang="en-IN" sz="1200" dirty="0"/>
          </a:p>
          <a:p>
            <a:r>
              <a:rPr lang="en-IN" sz="1200" dirty="0"/>
              <a:t>FROM PATIENT p</a:t>
            </a:r>
          </a:p>
          <a:p>
            <a:r>
              <a:rPr lang="en-IN" sz="1200" dirty="0"/>
              <a:t>JOIN BILLING b</a:t>
            </a:r>
          </a:p>
          <a:p>
            <a:r>
              <a:rPr lang="en-IN" sz="1200" dirty="0"/>
              <a:t>ON </a:t>
            </a:r>
            <a:r>
              <a:rPr lang="en-IN" sz="1200" dirty="0" err="1"/>
              <a:t>p.PatientID</a:t>
            </a:r>
            <a:r>
              <a:rPr lang="en-IN" sz="1200" dirty="0"/>
              <a:t> = </a:t>
            </a:r>
            <a:r>
              <a:rPr lang="en-IN" sz="1200" dirty="0" err="1"/>
              <a:t>b.PatientID</a:t>
            </a:r>
            <a:endParaRPr lang="en-IN" sz="1200" dirty="0"/>
          </a:p>
          <a:p>
            <a:r>
              <a:rPr lang="en-IN" sz="1200" dirty="0"/>
              <a:t>WHERE </a:t>
            </a:r>
            <a:r>
              <a:rPr lang="en-IN" sz="1200" dirty="0" err="1"/>
              <a:t>b.Amount</a:t>
            </a:r>
            <a:r>
              <a:rPr lang="en-IN" sz="1200" dirty="0"/>
              <a:t> &gt; (</a:t>
            </a:r>
          </a:p>
          <a:p>
            <a:r>
              <a:rPr lang="en-IN" sz="1200" dirty="0"/>
              <a:t>    SELECT AVG(Amount)</a:t>
            </a:r>
          </a:p>
          <a:p>
            <a:r>
              <a:rPr lang="en-IN" sz="1200" dirty="0"/>
              <a:t>    FROM BILLING</a:t>
            </a:r>
          </a:p>
          <a:p>
            <a:r>
              <a:rPr lang="en-IN" sz="1200" dirty="0"/>
              <a:t>)</a:t>
            </a:r>
          </a:p>
          <a:p>
            <a:r>
              <a:rPr lang="en-IN" sz="1200" dirty="0"/>
              <a:t>ORDER BY </a:t>
            </a:r>
            <a:r>
              <a:rPr lang="en-IN" sz="1200" dirty="0" err="1"/>
              <a:t>b.Amount</a:t>
            </a:r>
            <a:r>
              <a:rPr lang="en-IN" sz="1200" dirty="0"/>
              <a:t> DESC;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860B14-9FFC-0E33-D605-E7CC8C411309}"/>
              </a:ext>
            </a:extLst>
          </p:cNvPr>
          <p:cNvSpPr/>
          <p:nvPr/>
        </p:nvSpPr>
        <p:spPr>
          <a:xfrm>
            <a:off x="502920" y="4069079"/>
            <a:ext cx="11155680" cy="244401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PATIENTID  PATIENT_NAME                                                     AMOUNT PAYMENTSTATUS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---------- ------------------------------------------------------------ ---------- ---------------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P015       Sandeep Joshi                                                     10250 PAID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P014       Pooja Shah                                                         9900 PAID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P013       Karthik Reddy                                                      9550 PAID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P012       Meera Das                                                          9200 PENDING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IN" dirty="0"/>
              <a:t>P011       Arjun Kumar                                                        8850 PAID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5565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6F14-FFD1-63D1-7FC8-8E8C4038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86EE68-8D67-4731-DEC0-044C8A18D0D8}"/>
              </a:ext>
            </a:extLst>
          </p:cNvPr>
          <p:cNvSpPr txBox="1"/>
          <p:nvPr/>
        </p:nvSpPr>
        <p:spPr>
          <a:xfrm>
            <a:off x="502920" y="228600"/>
            <a:ext cx="72852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/>
              <a:t>14. Departments with more than one employee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897AB-6348-E9D6-A984-AC24B4546EC2}"/>
              </a:ext>
            </a:extLst>
          </p:cNvPr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56C2D2-AA4B-C9EC-E9BC-EC6CDE5F5CB8}"/>
              </a:ext>
            </a:extLst>
          </p:cNvPr>
          <p:cNvSpPr/>
          <p:nvPr/>
        </p:nvSpPr>
        <p:spPr>
          <a:xfrm>
            <a:off x="457200" y="1188720"/>
            <a:ext cx="11155680" cy="26958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SELECT </a:t>
            </a:r>
            <a:r>
              <a:rPr lang="en-US" sz="1200" dirty="0" err="1"/>
              <a:t>d.DepartmentID</a:t>
            </a:r>
            <a:r>
              <a:rPr lang="en-US" sz="1200" dirty="0"/>
              <a:t>,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d.DeptName</a:t>
            </a:r>
            <a:r>
              <a:rPr lang="en-US" sz="1200" dirty="0"/>
              <a:t>,</a:t>
            </a:r>
          </a:p>
          <a:p>
            <a:r>
              <a:rPr lang="en-US" sz="1200" dirty="0"/>
              <a:t>       COUNT(</a:t>
            </a:r>
            <a:r>
              <a:rPr lang="en-US" sz="1200" dirty="0" err="1"/>
              <a:t>e.EmployeeID</a:t>
            </a:r>
            <a:r>
              <a:rPr lang="en-US" sz="1200" dirty="0"/>
              <a:t>) AS </a:t>
            </a:r>
            <a:r>
              <a:rPr lang="en-US" sz="1200" dirty="0" err="1"/>
              <a:t>Employee_Count</a:t>
            </a:r>
            <a:endParaRPr lang="en-US" sz="1200" dirty="0"/>
          </a:p>
          <a:p>
            <a:r>
              <a:rPr lang="en-US" sz="1200" dirty="0"/>
              <a:t>FROM DEPARTMENT d</a:t>
            </a:r>
          </a:p>
          <a:p>
            <a:r>
              <a:rPr lang="en-US" sz="1200" dirty="0"/>
              <a:t>JOIN EMPLOYEES e</a:t>
            </a:r>
          </a:p>
          <a:p>
            <a:r>
              <a:rPr lang="en-US" sz="1200" dirty="0"/>
              <a:t>ON </a:t>
            </a:r>
            <a:r>
              <a:rPr lang="en-US" sz="1200" dirty="0" err="1"/>
              <a:t>d.DepartmentID</a:t>
            </a:r>
            <a:r>
              <a:rPr lang="en-US" sz="1200" dirty="0"/>
              <a:t> = </a:t>
            </a:r>
            <a:r>
              <a:rPr lang="en-US" sz="1200" dirty="0" err="1"/>
              <a:t>e.DepartmentID</a:t>
            </a:r>
            <a:endParaRPr lang="en-US" sz="1200" dirty="0"/>
          </a:p>
          <a:p>
            <a:r>
              <a:rPr lang="en-US" sz="1200" dirty="0"/>
              <a:t>GROUP BY </a:t>
            </a:r>
            <a:r>
              <a:rPr lang="en-US" sz="1200" dirty="0" err="1"/>
              <a:t>d.DepartmentID</a:t>
            </a:r>
            <a:r>
              <a:rPr lang="en-US" sz="1200" dirty="0"/>
              <a:t>, </a:t>
            </a:r>
            <a:r>
              <a:rPr lang="en-US" sz="1200" dirty="0" err="1"/>
              <a:t>d.DeptName</a:t>
            </a:r>
            <a:endParaRPr lang="en-US" sz="1200" dirty="0"/>
          </a:p>
          <a:p>
            <a:r>
              <a:rPr lang="en-US" sz="1200" dirty="0"/>
              <a:t>HAVING COUNT(</a:t>
            </a:r>
            <a:r>
              <a:rPr lang="en-US" sz="1200" dirty="0" err="1"/>
              <a:t>e.EmployeeID</a:t>
            </a:r>
            <a:r>
              <a:rPr lang="en-US" sz="1200" dirty="0"/>
              <a:t>) &gt; 1</a:t>
            </a:r>
          </a:p>
          <a:p>
            <a:r>
              <a:rPr lang="en-US" sz="1200" dirty="0"/>
              <a:t>ORDER BY </a:t>
            </a:r>
            <a:r>
              <a:rPr lang="en-US" sz="1200" dirty="0" err="1"/>
              <a:t>Employee_Count</a:t>
            </a:r>
            <a:r>
              <a:rPr lang="en-US" sz="1200" dirty="0"/>
              <a:t> DESC;</a:t>
            </a:r>
            <a:endParaRPr lang="en-IN" sz="12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ED1112-82B3-988B-6DB8-D1F44FDDBB36}"/>
              </a:ext>
            </a:extLst>
          </p:cNvPr>
          <p:cNvSpPr/>
          <p:nvPr/>
        </p:nvSpPr>
        <p:spPr>
          <a:xfrm>
            <a:off x="502920" y="4069079"/>
            <a:ext cx="11155680" cy="244401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/>
              <a:t>SAMPLE OUTPUT</a:t>
            </a:r>
            <a:endParaRPr lang="en-US" dirty="0"/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DEPARTMENT DEPTNAME                                                     EMPLOYEE_COUNT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---------- ------------------------------------------------------------ --------------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D003       Orthopedics                                                               2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D006       ENT                                                                       2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D008       General Surgery                                                           2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D002       Neurology                                                                 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0881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6C81-1BB9-73CE-693D-69516C05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4C18A2-19B2-147C-51E3-A987229E355A}"/>
              </a:ext>
            </a:extLst>
          </p:cNvPr>
          <p:cNvSpPr txBox="1"/>
          <p:nvPr/>
        </p:nvSpPr>
        <p:spPr>
          <a:xfrm>
            <a:off x="347924" y="207499"/>
            <a:ext cx="1124743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500" b="1" dirty="0"/>
              <a:t>15.Departments with their total employee count and average employee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D049B-2488-BB82-659C-BD3DF3344F6A}"/>
              </a:ext>
            </a:extLst>
          </p:cNvPr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Advanced SQL Query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D63937B-3282-6472-5520-80432F96E7C7}"/>
              </a:ext>
            </a:extLst>
          </p:cNvPr>
          <p:cNvSpPr/>
          <p:nvPr/>
        </p:nvSpPr>
        <p:spPr>
          <a:xfrm>
            <a:off x="457200" y="1188720"/>
            <a:ext cx="11155680" cy="26958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SELECT </a:t>
            </a:r>
            <a:r>
              <a:rPr lang="en-US" sz="1200" dirty="0" err="1"/>
              <a:t>d.DepartmentID</a:t>
            </a:r>
            <a:r>
              <a:rPr lang="en-US" sz="1200" dirty="0"/>
              <a:t>,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d.DeptName</a:t>
            </a:r>
            <a:r>
              <a:rPr lang="en-US" sz="1200" dirty="0"/>
              <a:t>,</a:t>
            </a:r>
          </a:p>
          <a:p>
            <a:r>
              <a:rPr lang="en-US" sz="1200" dirty="0"/>
              <a:t>       COUNT(</a:t>
            </a:r>
            <a:r>
              <a:rPr lang="en-US" sz="1200" dirty="0" err="1"/>
              <a:t>e.EmployeeID</a:t>
            </a:r>
            <a:r>
              <a:rPr lang="en-US" sz="1200" dirty="0"/>
              <a:t>) AS </a:t>
            </a:r>
            <a:r>
              <a:rPr lang="en-US" sz="1200" dirty="0" err="1"/>
              <a:t>Total_Employees</a:t>
            </a:r>
            <a:r>
              <a:rPr lang="en-US" sz="1200" dirty="0"/>
              <a:t>,</a:t>
            </a:r>
          </a:p>
          <a:p>
            <a:r>
              <a:rPr lang="en-US" sz="1200" dirty="0"/>
              <a:t>       ROUND(AVG(</a:t>
            </a:r>
            <a:r>
              <a:rPr lang="en-US" sz="1200" dirty="0" err="1"/>
              <a:t>n.Experience_Years</a:t>
            </a:r>
            <a:r>
              <a:rPr lang="en-US" sz="1200" dirty="0"/>
              <a:t>), 2) AS </a:t>
            </a:r>
            <a:r>
              <a:rPr lang="en-US" sz="1200" dirty="0" err="1"/>
              <a:t>Avg_Experience</a:t>
            </a:r>
            <a:endParaRPr lang="en-US" sz="1200" dirty="0"/>
          </a:p>
          <a:p>
            <a:r>
              <a:rPr lang="en-US" sz="1200" dirty="0"/>
              <a:t>FROM DEPARTMENT d</a:t>
            </a:r>
          </a:p>
          <a:p>
            <a:r>
              <a:rPr lang="en-US" sz="1200" dirty="0"/>
              <a:t>JOIN EMPLOYEES e</a:t>
            </a:r>
          </a:p>
          <a:p>
            <a:r>
              <a:rPr lang="en-US" sz="1200" dirty="0"/>
              <a:t>ON </a:t>
            </a:r>
            <a:r>
              <a:rPr lang="en-US" sz="1200" dirty="0" err="1"/>
              <a:t>d.DepartmentID</a:t>
            </a:r>
            <a:r>
              <a:rPr lang="en-US" sz="1200" dirty="0"/>
              <a:t> = </a:t>
            </a:r>
            <a:r>
              <a:rPr lang="en-US" sz="1200" dirty="0" err="1"/>
              <a:t>e.DepartmentID</a:t>
            </a:r>
            <a:endParaRPr lang="en-US" sz="1200" dirty="0"/>
          </a:p>
          <a:p>
            <a:r>
              <a:rPr lang="en-US" sz="1200" dirty="0"/>
              <a:t>JOIN NURSE n</a:t>
            </a:r>
          </a:p>
          <a:p>
            <a:r>
              <a:rPr lang="en-US" sz="1200" dirty="0"/>
              <a:t>ON </a:t>
            </a:r>
            <a:r>
              <a:rPr lang="en-US" sz="1200" dirty="0" err="1"/>
              <a:t>e.EmployeeID</a:t>
            </a:r>
            <a:r>
              <a:rPr lang="en-US" sz="1200" dirty="0"/>
              <a:t> = </a:t>
            </a:r>
            <a:r>
              <a:rPr lang="en-US" sz="1200" dirty="0" err="1"/>
              <a:t>n.EmployeeID</a:t>
            </a:r>
            <a:endParaRPr lang="en-US" sz="1200" dirty="0"/>
          </a:p>
          <a:p>
            <a:r>
              <a:rPr lang="en-US" sz="1200" dirty="0"/>
              <a:t>GROUP BY </a:t>
            </a:r>
            <a:r>
              <a:rPr lang="en-US" sz="1200" dirty="0" err="1"/>
              <a:t>d.DepartmentID</a:t>
            </a:r>
            <a:r>
              <a:rPr lang="en-US" sz="1200" dirty="0"/>
              <a:t>, </a:t>
            </a:r>
            <a:r>
              <a:rPr lang="en-US" sz="1200" dirty="0" err="1"/>
              <a:t>d.DeptName</a:t>
            </a:r>
            <a:endParaRPr lang="en-US" sz="1200" dirty="0"/>
          </a:p>
          <a:p>
            <a:r>
              <a:rPr lang="en-US" sz="1200" dirty="0"/>
              <a:t>HAVING COUNT(</a:t>
            </a:r>
            <a:r>
              <a:rPr lang="en-US" sz="1200" dirty="0" err="1"/>
              <a:t>e.EmployeeID</a:t>
            </a:r>
            <a:r>
              <a:rPr lang="en-US" sz="1200" dirty="0"/>
              <a:t>) &gt;= 1</a:t>
            </a:r>
          </a:p>
          <a:p>
            <a:r>
              <a:rPr lang="en-US" sz="1200" dirty="0"/>
              <a:t>ORDER BY </a:t>
            </a:r>
            <a:r>
              <a:rPr lang="en-US" sz="1200" dirty="0" err="1"/>
              <a:t>Avg_Experience</a:t>
            </a:r>
            <a:r>
              <a:rPr lang="en-US" sz="1200" dirty="0"/>
              <a:t> DESC;</a:t>
            </a:r>
            <a:endParaRPr lang="en-IN" sz="12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A8ECCA-F2FE-3575-4CAD-7A10770BDA1D}"/>
              </a:ext>
            </a:extLst>
          </p:cNvPr>
          <p:cNvSpPr/>
          <p:nvPr/>
        </p:nvSpPr>
        <p:spPr>
          <a:xfrm>
            <a:off x="502920" y="4069079"/>
            <a:ext cx="11155680" cy="25814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DEPARTMENT DEPTNAME                                                     TOTAL_EMPLOYEES AVG_EXPERIENCE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---------- ------------------------------------------------------------ --------------- --------------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D011       Urology                                                                    1              8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D006       ENT                                                                        1              7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D004       Pediatrics                                                                 1              6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D010       Gynecology                                                                 1              6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D003       Orthopedics                                                                1              5</a:t>
            </a:r>
          </a:p>
          <a:p>
            <a:pPr>
              <a:spcBef>
                <a:spcPts val="800"/>
              </a:spcBef>
              <a:defRPr sz="1200">
                <a:latin typeface="Consolas"/>
              </a:defRPr>
            </a:pPr>
            <a:r>
              <a:rPr lang="en-US" dirty="0"/>
              <a:t>D009       Ophthalmology                                                              1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4282685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8380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Before 1NF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25880"/>
          <a:ext cx="11567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567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PatientID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PatientName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PatientPhone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DoctorID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DoctorName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DoctorPhones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DeptID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DeptName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DeptLocation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AppointmentDate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Ravi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9876543210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Dr. Anil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9871111111, 9872222222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Cardiology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Block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20-09-2026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Sita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9876543211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Dr. Meena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9873333333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Neurology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Block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21-09-2026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2940" y="3682465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DoctorPhones contains more than one value in a single cell.</a:t>
            </a:r>
          </a:p>
          <a:p>
            <a:pPr>
              <a:spcAft>
                <a:spcPts val="800"/>
              </a:spcAft>
              <a:defRPr sz="1900"/>
            </a:pPr>
            <a:r>
              <a:t>Patient, doctor and department facts are mixed together.</a:t>
            </a:r>
          </a:p>
          <a:p>
            <a:pPr>
              <a:spcAft>
                <a:spcPts val="800"/>
              </a:spcAft>
              <a:defRPr sz="1900"/>
            </a:pPr>
            <a:r>
              <a:t>Information can be repeated across multiple hospital records.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1NF — After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Rule: every attribute must contain one atomic value; no repeating groups or multi-valued cells.</a:t>
            </a:r>
          </a:p>
          <a:p>
            <a:pPr>
              <a:spcAft>
                <a:spcPts val="800"/>
              </a:spcAft>
              <a:defRPr sz="2000"/>
            </a:pPr>
            <a:r>
              <a:t>Example: DoctorPhones is separated into DOCTOR_PHONE.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4884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DoctorID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phn_number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9871111111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9872222222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9873333333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06440" y="210312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Primary key: (DoctorID, phn_number)</a:t>
            </a:r>
          </a:p>
          <a:p>
            <a:pPr>
              <a:spcAft>
                <a:spcPts val="800"/>
              </a:spcAft>
              <a:defRPr sz="1800"/>
            </a:pPr>
            <a:r>
              <a:t>Functional dependency: (DoctorID, phn_number) → no non-key attribute</a:t>
            </a:r>
          </a:p>
          <a:p>
            <a:pPr>
              <a:spcAft>
                <a:spcPts val="800"/>
              </a:spcAft>
              <a:defRPr sz="1800"/>
            </a:pPr>
            <a:r>
              <a:t>Every phone value is atomic.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32859"/>
            <a:ext cx="17171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/>
              <a:t>Before 2NF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828800"/>
          <a:ext cx="115671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PatientID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PatientName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PatientPhone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DoctorID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DoctorName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AppointmentDate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AppointmentTime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Ravi Kumar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9876543210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Ravi Kumar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9876543210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Dr. Meena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22-09-2026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P002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Sita Rao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9876543211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A003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23-09-2026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09:30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0000"/>
                </a:solidFill>
              </a:defRPr>
            </a:pPr>
            <a:r>
              <a:t>Functional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rPr dirty="0"/>
              <a:t>(</a:t>
            </a:r>
            <a:r>
              <a:rPr dirty="0" err="1"/>
              <a:t>PatientID</a:t>
            </a:r>
            <a:r>
              <a:rPr dirty="0"/>
              <a:t>, </a:t>
            </a:r>
            <a:r>
              <a:rPr dirty="0" err="1"/>
              <a:t>AppointmentID</a:t>
            </a:r>
            <a:r>
              <a:rPr dirty="0"/>
              <a:t>) → </a:t>
            </a:r>
            <a:r>
              <a:rPr dirty="0" err="1"/>
              <a:t>PatientName</a:t>
            </a:r>
            <a:r>
              <a:rPr dirty="0"/>
              <a:t>, </a:t>
            </a:r>
            <a:r>
              <a:rPr dirty="0" err="1"/>
              <a:t>PatientPhone</a:t>
            </a:r>
            <a:r>
              <a:rPr dirty="0"/>
              <a:t>, </a:t>
            </a:r>
            <a:r>
              <a:rPr dirty="0" err="1"/>
              <a:t>DoctorID</a:t>
            </a:r>
            <a:r>
              <a:rPr dirty="0"/>
              <a:t>, </a:t>
            </a:r>
            <a:r>
              <a:rPr dirty="0" err="1"/>
              <a:t>DoctorName</a:t>
            </a:r>
            <a:r>
              <a:rPr dirty="0"/>
              <a:t>, </a:t>
            </a:r>
            <a:r>
              <a:rPr dirty="0" err="1"/>
              <a:t>AppointmentDate</a:t>
            </a:r>
            <a:r>
              <a:rPr dirty="0"/>
              <a:t>, </a:t>
            </a:r>
            <a:r>
              <a:rPr dirty="0" err="1"/>
              <a:t>AppointmentTime</a:t>
            </a:r>
            <a:br>
              <a:rPr dirty="0"/>
            </a:br>
            <a:r>
              <a:rPr dirty="0" err="1"/>
              <a:t>PatientID</a:t>
            </a:r>
            <a:r>
              <a:rPr dirty="0"/>
              <a:t> → </a:t>
            </a:r>
            <a:r>
              <a:rPr dirty="0" err="1"/>
              <a:t>PatientName</a:t>
            </a:r>
            <a:r>
              <a:rPr dirty="0"/>
              <a:t>, </a:t>
            </a:r>
            <a:r>
              <a:rPr dirty="0" err="1"/>
              <a:t>PatientPhone</a:t>
            </a:r>
            <a:r>
              <a:rPr dirty="0"/>
              <a:t>   ← Partial Dependency</a:t>
            </a:r>
            <a:br>
              <a:rPr dirty="0"/>
            </a:br>
            <a:r>
              <a:rPr dirty="0" err="1"/>
              <a:t>DoctorID</a:t>
            </a:r>
            <a:r>
              <a:rPr dirty="0"/>
              <a:t> → </a:t>
            </a:r>
            <a:r>
              <a:rPr dirty="0" err="1"/>
              <a:t>DoctorName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After 2NF — Exactly 2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Remove the partial dependency: PatientID → PatientName, PatientPhone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dirty="0"/>
              <a:t>TABLE 1 — PATIENT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874519"/>
          <a:ext cx="48463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PatientID</a:t>
                      </a:r>
                      <a:r>
                        <a:rPr dirty="0"/>
                        <a:t> (PK)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PatientName</a:t>
                      </a:r>
                      <a:endParaRPr dirty="0"/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PatientPhone</a:t>
                      </a:r>
                      <a:endParaRPr dirty="0"/>
                    </a:p>
                  </a:txBody>
                  <a:tcPr>
                    <a:solidFill>
                      <a:srgbClr val="1C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Ravi Kumar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9876543210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Sita Rao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9876543211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TABLE 2 — APPOINTMENT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721900"/>
              </p:ext>
            </p:extLst>
          </p:nvPr>
        </p:nvGraphicFramePr>
        <p:xfrm>
          <a:off x="5715000" y="2011680"/>
          <a:ext cx="5897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AppointmentID</a:t>
                      </a:r>
                      <a:r>
                        <a:rPr dirty="0"/>
                        <a:t> (PK)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PatientID (FK)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DoctorID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DoctorName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AppointmentDate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AppointmentTime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20-09-2026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P001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Dr. Meena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22-09-2026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A003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P002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23-09-2026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09:30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PATIENT: PatientID is the complete key.</a:t>
            </a:r>
            <a:br/>
            <a:r>
              <a:t>• APPOINTMENT: AppointmentID is the complete key.</a:t>
            </a:r>
            <a:br/>
            <a:r>
              <a:t>• No non-key attribute depends on only part of a composite key.</a:t>
            </a:r>
            <a:br/>
            <a:r>
              <a:t>Therefore, both relations satisfy 2NF.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C66E-7DFD-07C0-058F-87840505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546DA6-88AB-991D-38FE-AF5E4C78C0EC}"/>
              </a:ext>
            </a:extLst>
          </p:cNvPr>
          <p:cNvSpPr txBox="1"/>
          <p:nvPr/>
        </p:nvSpPr>
        <p:spPr>
          <a:xfrm>
            <a:off x="548640" y="228600"/>
            <a:ext cx="17171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/>
              <a:t>Before</a:t>
            </a:r>
            <a:r>
              <a:rPr dirty="0"/>
              <a:t> </a:t>
            </a:r>
            <a:r>
              <a:rPr lang="en-IN" dirty="0"/>
              <a:t>3</a:t>
            </a:r>
            <a:r>
              <a:rPr dirty="0"/>
              <a:t>NF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1EB99-C1B7-956E-1E69-45A62CACA1CB}"/>
              </a:ext>
            </a:extLst>
          </p:cNvPr>
          <p:cNvSpPr txBox="1"/>
          <p:nvPr/>
        </p:nvSpPr>
        <p:spPr>
          <a:xfrm>
            <a:off x="548640" y="1019834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dirty="0"/>
              <a:t>TABLE  — APPOINTMENT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4BA794-FFD8-D330-E993-454A96341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069138"/>
              </p:ext>
            </p:extLst>
          </p:nvPr>
        </p:nvGraphicFramePr>
        <p:xfrm>
          <a:off x="594360" y="1522754"/>
          <a:ext cx="5897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AppointmentID</a:t>
                      </a:r>
                      <a:r>
                        <a:rPr dirty="0"/>
                        <a:t> (PK)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PatientID (FK)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DoctorID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DoctorName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AppointmentDate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AppointmentTime</a:t>
                      </a:r>
                    </a:p>
                  </a:txBody>
                  <a:tcPr>
                    <a:solidFill>
                      <a:srgbClr val="1C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P001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20-09-2026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P001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D002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Dr. Meena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22-09-2026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A003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P002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D001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Dr. Anil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23-09-2026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09:30</a:t>
                      </a:r>
                    </a:p>
                  </a:txBody>
                  <a:tcPr>
                    <a:solidFill>
                      <a:srgbClr val="C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76DAB61-C47C-CD85-F8A8-C7C126FCDA2C}"/>
              </a:ext>
            </a:extLst>
          </p:cNvPr>
          <p:cNvSpPr txBox="1"/>
          <p:nvPr/>
        </p:nvSpPr>
        <p:spPr>
          <a:xfrm>
            <a:off x="594360" y="3996190"/>
            <a:ext cx="1042416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lang="en-US" sz="1200" dirty="0" err="1"/>
              <a:t>AppointmentID</a:t>
            </a:r>
            <a:r>
              <a:rPr lang="en-US" sz="1200" dirty="0"/>
              <a:t> → </a:t>
            </a:r>
            <a:r>
              <a:rPr lang="en-US" sz="1200" dirty="0" err="1"/>
              <a:t>DoctorID</a:t>
            </a:r>
            <a:endParaRPr lang="en-US" sz="1200" dirty="0"/>
          </a:p>
          <a:p>
            <a:pPr>
              <a:spcAft>
                <a:spcPts val="1400"/>
              </a:spcAft>
              <a:defRPr sz="2200"/>
            </a:pPr>
            <a:r>
              <a:rPr lang="en-US" sz="1200" dirty="0" err="1"/>
              <a:t>DoctorID</a:t>
            </a:r>
            <a:r>
              <a:rPr lang="en-US" sz="1200" dirty="0"/>
              <a:t> → </a:t>
            </a:r>
            <a:r>
              <a:rPr lang="en-US" sz="1200" dirty="0" err="1"/>
              <a:t>DoctorName</a:t>
            </a:r>
            <a:endParaRPr lang="en-US" sz="1200" dirty="0"/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Therefore: </a:t>
            </a:r>
            <a:r>
              <a:rPr lang="en-US" sz="1200" dirty="0" err="1"/>
              <a:t>AppointmentID</a:t>
            </a:r>
            <a:r>
              <a:rPr lang="en-US" sz="1200" dirty="0"/>
              <a:t> → </a:t>
            </a:r>
            <a:r>
              <a:rPr lang="en-US" sz="1200" dirty="0" err="1"/>
              <a:t>DoctorID</a:t>
            </a:r>
            <a:r>
              <a:rPr lang="en-US" sz="1200" dirty="0"/>
              <a:t> → </a:t>
            </a:r>
            <a:r>
              <a:rPr lang="en-US" sz="1200" dirty="0" err="1"/>
              <a:t>DoctorName</a:t>
            </a:r>
            <a:endParaRPr lang="en-US" sz="1200" dirty="0"/>
          </a:p>
          <a:p>
            <a:pPr>
              <a:spcAft>
                <a:spcPts val="1400"/>
              </a:spcAft>
              <a:defRPr sz="2200"/>
            </a:pPr>
            <a:r>
              <a:rPr lang="en-US" sz="1200" dirty="0" err="1"/>
              <a:t>DoctorName</a:t>
            </a:r>
            <a:r>
              <a:rPr lang="en-US" sz="1200" dirty="0"/>
              <a:t> depends on </a:t>
            </a:r>
            <a:r>
              <a:rPr lang="en-US" sz="1200" dirty="0" err="1"/>
              <a:t>DoctorID</a:t>
            </a:r>
            <a:r>
              <a:rPr lang="en-US" sz="1200" dirty="0"/>
              <a:t>, not directly on the key </a:t>
            </a:r>
            <a:r>
              <a:rPr lang="en-US" sz="1200" dirty="0" err="1"/>
              <a:t>AppointmentID</a:t>
            </a:r>
            <a:r>
              <a:rPr lang="en-US" sz="1200" dirty="0"/>
              <a:t>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This is a transitive dependency and must be removed for 3NF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57246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34E7EC-3EA9-7643-4CDC-6200C6B2E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82763"/>
              </p:ext>
            </p:extLst>
          </p:nvPr>
        </p:nvGraphicFramePr>
        <p:xfrm>
          <a:off x="345440" y="1719072"/>
          <a:ext cx="651967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dirty="0" err="1"/>
                        <a:t>PatientID</a:t>
                      </a:r>
                      <a:r>
                        <a:rPr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dirty="0" err="1"/>
                        <a:t>PatientName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dirty="0" err="1"/>
                        <a:t>PatientPhone</a:t>
                      </a:r>
                      <a:r>
                        <a:rPr lang="en-IN" dirty="0"/>
                        <a:t>    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Ravi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9876543210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Sita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9876543211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3BFCA7-0B6A-E288-0667-19373AFCE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327285"/>
              </p:ext>
            </p:extLst>
          </p:nvPr>
        </p:nvGraphicFramePr>
        <p:xfrm>
          <a:off x="416560" y="4482592"/>
          <a:ext cx="4816856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lang="en-IN" dirty="0"/>
                        <a:t>Doctor</a:t>
                      </a:r>
                      <a:r>
                        <a:rPr dirty="0"/>
                        <a:t>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lang="en-IN" dirty="0"/>
                        <a:t>Doctor</a:t>
                      </a:r>
                      <a:r>
                        <a:rPr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en-IN" dirty="0"/>
                        <a:t>D</a:t>
                      </a:r>
                      <a:r>
                        <a:rPr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en-IN" dirty="0"/>
                        <a:t>Dr. Anil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en-IN" dirty="0"/>
                        <a:t>D</a:t>
                      </a:r>
                      <a:r>
                        <a:rPr dirty="0"/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lang="en-IN" dirty="0"/>
                        <a:t>Dr. Meena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D4D9AB1-793C-12D2-9377-05F5E79A4238}"/>
              </a:ext>
            </a:extLst>
          </p:cNvPr>
          <p:cNvSpPr txBox="1"/>
          <p:nvPr/>
        </p:nvSpPr>
        <p:spPr>
          <a:xfrm>
            <a:off x="345440" y="35829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sz="2600" dirty="0"/>
              <a:t>After 3NF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33677F-6AB4-E466-B549-EBC2C7039E9F}"/>
              </a:ext>
            </a:extLst>
          </p:cNvPr>
          <p:cNvSpPr txBox="1"/>
          <p:nvPr/>
        </p:nvSpPr>
        <p:spPr>
          <a:xfrm>
            <a:off x="416560" y="13497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lang="en-IN" sz="1800" dirty="0"/>
              <a:t>TABLE 1 — PATIENT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6DEFE-A5B7-E2AF-AB35-A3C09236B91F}"/>
              </a:ext>
            </a:extLst>
          </p:cNvPr>
          <p:cNvSpPr txBox="1"/>
          <p:nvPr/>
        </p:nvSpPr>
        <p:spPr>
          <a:xfrm>
            <a:off x="416560" y="3840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lang="en-IN" sz="1800" dirty="0"/>
              <a:t>TABLE 2 — Doctor</a:t>
            </a:r>
          </a:p>
        </p:txBody>
      </p:sp>
    </p:spTree>
    <p:extLst>
      <p:ext uri="{BB962C8B-B14F-4D97-AF65-F5344CB8AC3E}">
        <p14:creationId xmlns:p14="http://schemas.microsoft.com/office/powerpoint/2010/main" val="4563325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6A8BFF-0ED7-C473-0C3E-A0718F279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783316"/>
              </p:ext>
            </p:extLst>
          </p:nvPr>
        </p:nvGraphicFramePr>
        <p:xfrm>
          <a:off x="411480" y="1143000"/>
          <a:ext cx="10515600" cy="208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468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AppointmentID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PatientID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DoctorID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AppointmentDate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AppointmentTime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22-09-2026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23-09-2026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09:30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BEF8B3-7970-6C5A-E5A3-AE58015090B4}"/>
              </a:ext>
            </a:extLst>
          </p:cNvPr>
          <p:cNvSpPr txBox="1"/>
          <p:nvPr/>
        </p:nvSpPr>
        <p:spPr>
          <a:xfrm>
            <a:off x="589280" y="4909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rPr lang="en-IN" sz="1800" dirty="0"/>
              <a:t>TABLE </a:t>
            </a:r>
            <a:r>
              <a:rPr lang="en-IN" dirty="0"/>
              <a:t>3 </a:t>
            </a:r>
            <a:r>
              <a:rPr lang="en-IN" sz="1800" dirty="0"/>
              <a:t>— Appointment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C66E7-77F0-5668-9932-2462DEDB2CB3}"/>
              </a:ext>
            </a:extLst>
          </p:cNvPr>
          <p:cNvSpPr txBox="1"/>
          <p:nvPr/>
        </p:nvSpPr>
        <p:spPr>
          <a:xfrm>
            <a:off x="411480" y="3848998"/>
            <a:ext cx="6096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rPr lang="en-US" sz="1200" dirty="0"/>
              <a:t>PATIENT: </a:t>
            </a:r>
            <a:r>
              <a:rPr lang="en-US" sz="1200" dirty="0" err="1"/>
              <a:t>PatientID</a:t>
            </a:r>
            <a:r>
              <a:rPr lang="en-US" sz="1200" dirty="0"/>
              <a:t> is the complete key; </a:t>
            </a:r>
            <a:r>
              <a:rPr lang="en-US" sz="1200" dirty="0" err="1"/>
              <a:t>PatientName</a:t>
            </a:r>
            <a:r>
              <a:rPr lang="en-US" sz="1200" dirty="0"/>
              <a:t> and </a:t>
            </a:r>
            <a:r>
              <a:rPr lang="en-US" sz="1200" dirty="0" err="1"/>
              <a:t>PatientPhone</a:t>
            </a:r>
            <a:r>
              <a:rPr lang="en-US" sz="1200" dirty="0"/>
              <a:t> depend on </a:t>
            </a:r>
            <a:r>
              <a:rPr lang="en-US" sz="1200" dirty="0" err="1"/>
              <a:t>PatientID</a:t>
            </a:r>
            <a:r>
              <a:rPr lang="en-US" sz="1200" dirty="0"/>
              <a:t>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DOCTOR: </a:t>
            </a:r>
            <a:r>
              <a:rPr lang="en-US" sz="1200" dirty="0" err="1"/>
              <a:t>DoctorID</a:t>
            </a:r>
            <a:r>
              <a:rPr lang="en-US" sz="1200" dirty="0"/>
              <a:t> is the complete key; </a:t>
            </a:r>
            <a:r>
              <a:rPr lang="en-US" sz="1200" dirty="0" err="1"/>
              <a:t>DoctorName</a:t>
            </a:r>
            <a:r>
              <a:rPr lang="en-US" sz="1200" dirty="0"/>
              <a:t> depends on </a:t>
            </a:r>
            <a:r>
              <a:rPr lang="en-US" sz="1200" dirty="0" err="1"/>
              <a:t>DoctorID</a:t>
            </a:r>
            <a:r>
              <a:rPr lang="en-US" sz="1200" dirty="0"/>
              <a:t>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APPOINTMENT: </a:t>
            </a:r>
            <a:r>
              <a:rPr lang="en-US" sz="1200" dirty="0" err="1"/>
              <a:t>AppointmentID</a:t>
            </a:r>
            <a:r>
              <a:rPr lang="en-US" sz="1200" dirty="0"/>
              <a:t> is the complete key; </a:t>
            </a:r>
            <a:r>
              <a:rPr lang="en-US" sz="1200" dirty="0" err="1"/>
              <a:t>PatientID</a:t>
            </a:r>
            <a:r>
              <a:rPr lang="en-US" sz="1200" dirty="0"/>
              <a:t>, </a:t>
            </a:r>
            <a:r>
              <a:rPr lang="en-US" sz="1200" dirty="0" err="1"/>
              <a:t>DoctorID</a:t>
            </a:r>
            <a:r>
              <a:rPr lang="en-US" sz="1200" dirty="0"/>
              <a:t>, </a:t>
            </a:r>
            <a:r>
              <a:rPr lang="en-US" sz="1200" dirty="0" err="1"/>
              <a:t>AppointmentDate</a:t>
            </a:r>
            <a:r>
              <a:rPr lang="en-US" sz="1200" dirty="0"/>
              <a:t> and </a:t>
            </a:r>
            <a:r>
              <a:rPr lang="en-US" sz="1200" dirty="0" err="1"/>
              <a:t>AppointmentTime</a:t>
            </a:r>
            <a:r>
              <a:rPr lang="en-US" sz="1200" dirty="0"/>
              <a:t> depend on </a:t>
            </a:r>
            <a:r>
              <a:rPr lang="en-US" sz="1200" dirty="0" err="1"/>
              <a:t>AppointmentID</a:t>
            </a:r>
            <a:r>
              <a:rPr lang="en-US" sz="1200" dirty="0"/>
              <a:t>.</a:t>
            </a:r>
          </a:p>
          <a:p>
            <a:pPr>
              <a:spcAft>
                <a:spcPts val="1400"/>
              </a:spcAft>
              <a:defRPr sz="2200"/>
            </a:pPr>
            <a:r>
              <a:rPr lang="en-US" sz="1200" dirty="0"/>
              <a:t>The transitive dependency </a:t>
            </a:r>
            <a:r>
              <a:rPr lang="en-US" sz="1200" dirty="0" err="1"/>
              <a:t>AppointmentID</a:t>
            </a:r>
            <a:r>
              <a:rPr lang="en-US" sz="1200" dirty="0"/>
              <a:t> → </a:t>
            </a:r>
            <a:r>
              <a:rPr lang="en-US" sz="1200" dirty="0" err="1"/>
              <a:t>DoctorID</a:t>
            </a:r>
            <a:r>
              <a:rPr lang="en-US" sz="1200" dirty="0"/>
              <a:t> → </a:t>
            </a:r>
            <a:r>
              <a:rPr lang="en-US" sz="1200" dirty="0" err="1"/>
              <a:t>DoctorName</a:t>
            </a:r>
            <a:r>
              <a:rPr lang="en-US" sz="1200" dirty="0"/>
              <a:t> has been removed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602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</TotalTime>
  <Words>3717</Words>
  <Application>Microsoft Office PowerPoint</Application>
  <PresentationFormat>Widescreen</PresentationFormat>
  <Paragraphs>599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ABHIRAM A</cp:lastModifiedBy>
  <cp:revision>72</cp:revision>
  <dcterms:created xsi:type="dcterms:W3CDTF">2026-08-07T11:14:06Z</dcterms:created>
  <dcterms:modified xsi:type="dcterms:W3CDTF">2026-10-01T05:16:43Z</dcterms:modified>
</cp:coreProperties>
</file>