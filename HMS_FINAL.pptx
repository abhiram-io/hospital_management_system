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09" r:id="rId3"/>
    <p:sldId id="258" r:id="rId4"/>
    <p:sldId id="259" r:id="rId5"/>
    <p:sldId id="260" r:id="rId6"/>
    <p:sldId id="261" r:id="rId7"/>
    <p:sldId id="262" r:id="rId8"/>
    <p:sldId id="308" r:id="rId9"/>
    <p:sldId id="305" r:id="rId10"/>
    <p:sldId id="306" r:id="rId11"/>
    <p:sldId id="307" r:id="rId12"/>
    <p:sldId id="277" r:id="rId13"/>
    <p:sldId id="286" r:id="rId14"/>
    <p:sldId id="288" r:id="rId15"/>
    <p:sldId id="279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66" r:id="rId24"/>
    <p:sldId id="267" r:id="rId25"/>
    <p:sldId id="268" r:id="rId26"/>
    <p:sldId id="272" r:id="rId27"/>
    <p:sldId id="296" r:id="rId28"/>
    <p:sldId id="297" r:id="rId29"/>
    <p:sldId id="298" r:id="rId30"/>
    <p:sldId id="299" r:id="rId31"/>
    <p:sldId id="280" r:id="rId32"/>
    <p:sldId id="281" r:id="rId33"/>
    <p:sldId id="301" r:id="rId34"/>
    <p:sldId id="300" r:id="rId35"/>
    <p:sldId id="302" r:id="rId36"/>
    <p:sldId id="303" r:id="rId37"/>
    <p:sldId id="304" r:id="rId38"/>
    <p:sldId id="271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195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7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8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658304" y="1851661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 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503522" y="4272915"/>
            <a:ext cx="219456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44058-23CE-6EAD-49AD-D70CA80A3899}"/>
              </a:ext>
            </a:extLst>
          </p:cNvPr>
          <p:cNvSpPr txBox="1"/>
          <p:nvPr/>
        </p:nvSpPr>
        <p:spPr>
          <a:xfrm>
            <a:off x="1503522" y="3808659"/>
            <a:ext cx="763428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37119-1B3B-A305-F8A7-DC37636CA038}"/>
              </a:ext>
            </a:extLst>
          </p:cNvPr>
          <p:cNvSpPr txBox="1"/>
          <p:nvPr/>
        </p:nvSpPr>
        <p:spPr>
          <a:xfrm>
            <a:off x="4344354" y="731520"/>
            <a:ext cx="7634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Review-1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EFE43-4A36-FCBF-6625-27583FEE6BCB}"/>
              </a:ext>
            </a:extLst>
          </p:cNvPr>
          <p:cNvSpPr txBox="1"/>
          <p:nvPr/>
        </p:nvSpPr>
        <p:spPr>
          <a:xfrm>
            <a:off x="1450183" y="4394447"/>
            <a:ext cx="8486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G.BENJAMIN         26B21CS030</a:t>
            </a:r>
          </a:p>
          <a:p>
            <a:r>
              <a:rPr lang="en-IN" dirty="0">
                <a:solidFill>
                  <a:schemeClr val="bg1"/>
                </a:solidFill>
              </a:rPr>
              <a:t>CH.ENOSH             26B21CS021  </a:t>
            </a:r>
          </a:p>
          <a:p>
            <a:r>
              <a:rPr lang="en-IN" dirty="0">
                <a:solidFill>
                  <a:schemeClr val="bg1"/>
                </a:solidFill>
              </a:rPr>
              <a:t>B.ANIL KUMAR     26B21CS099 </a:t>
            </a:r>
          </a:p>
          <a:p>
            <a:r>
              <a:rPr lang="en-IN" dirty="0">
                <a:solidFill>
                  <a:schemeClr val="bg1"/>
                </a:solidFill>
              </a:rPr>
              <a:t>A.ABHIRAM          26B21CS010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20802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Introduction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Project background, motivation, objectives &amp; scope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20802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0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System Analysis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Existing system, proposed system &amp; requirements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3753612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7536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47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Database Design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9867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Major entities, relationships &amp; ER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36499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7536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7536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547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ER Diagram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9867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Entity structure, attributes &amp; cardinalities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03834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" y="542696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5426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221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Relational Schema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566013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Relations, primary keys &amp; foreign keys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03834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0800" y="5426964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5426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5221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/>
              <a:t>Normalization &amp; SQL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23760" y="566013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50" b="0"/>
              <a:t>1NF–3NF, SQL implementation &amp; queries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6" name="Picture 35" descr="Employability Dashboard">
            <a:extLst>
              <a:ext uri="{FF2B5EF4-FFF2-40B4-BE49-F238E27FC236}">
                <a16:creationId xmlns:a16="http://schemas.microsoft.com/office/drawing/2014/main" id="{D1405F6A-0CFF-3DE7-31E3-26026750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5" y="211245"/>
            <a:ext cx="1459307" cy="561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and mid-sized hospitals still run on paper registers, isolated spreadsheets, and staff memory — creating fragmented, error-prone, and slow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patient history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can't see past admissions, prescriptions, or lab results from other departments.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71416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71416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scheduling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71416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double-booking of doctors and long patient queues.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84464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84464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bed availability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84464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boards can't show free beds instantly during emergencies.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8368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billing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admission, pharmacy &amp; lab charges combined by hand.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0248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71416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71416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pharmacy stock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71416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expire unnoticed or run out without warning.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84464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84464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reporting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84464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queryable source of truth for occupancy, revenue, or workload.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1" name="Picture 30" descr="Employability Dashboard">
            <a:extLst>
              <a:ext uri="{FF2B5EF4-FFF2-40B4-BE49-F238E27FC236}">
                <a16:creationId xmlns:a16="http://schemas.microsoft.com/office/drawing/2014/main" id="{2BBF8471-81BF-7C27-7063-21ED328FF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521" y="273406"/>
            <a:ext cx="1572119" cy="605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constraints prevent double-booked doctors &amp; orphaned records.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history, allergies &amp; prescriptions in seconds — vital in emergencies.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scheduling, admission &amp; billing cuts staff workload.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081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63016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store each fact once, referenced everywhere.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5429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818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Reporting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202936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instantly generates occupancy, revenue &amp; workload reports.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65429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4818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202936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digital records simplify audits &amp; insurance claims.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4" name="Picture 23" descr="Employability Dashboard">
            <a:extLst>
              <a:ext uri="{FF2B5EF4-FFF2-40B4-BE49-F238E27FC236}">
                <a16:creationId xmlns:a16="http://schemas.microsoft.com/office/drawing/2014/main" id="{82FDBEFA-6E10-1684-EEED-A2470328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71" y="192023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060704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every patient's record — demographics, appointments, admissions, prescriptions &amp; lab tests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22768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appointment scheduling between patients and doctors, avoiding conflicts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31729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inpatient admissions — ward/bed allocation and attending doctors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8272" y="31729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consolidated billing across consultation, admission, pharmacy &amp; lab charges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" y="4069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pharmacy inventory and link it directly to prescriptions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48272" y="4069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lab tests ordered by doctors along with results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020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" name="Picture 1" descr="Employability Dashboard">
            <a:extLst>
              <a:ext uri="{FF2B5EF4-FFF2-40B4-BE49-F238E27FC236}">
                <a16:creationId xmlns:a16="http://schemas.microsoft.com/office/drawing/2014/main" id="{09EF5BEC-F1C2-210E-2E56-17F1BAC16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603" y="231458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169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509579"/>
              </p:ext>
            </p:extLst>
          </p:nvPr>
        </p:nvGraphicFramePr>
        <p:xfrm>
          <a:off x="472440" y="1920240"/>
          <a:ext cx="11247120" cy="404788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Patient Registration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Register patients &amp; store demographic details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Appointment Booking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Book, reschedule or cancel patient–doctor appointments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FR3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Doctor &amp; Dept.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Maintain doctor profiles &amp; department mapping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Admission &amp; Discharge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Ward/bed allocation and discharge tracking (IPD)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FR5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Billing &amp; Invoicing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Consolidated bills across all charge sources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8" name="Picture 7" descr="Employability Dashboard">
            <a:extLst>
              <a:ext uri="{FF2B5EF4-FFF2-40B4-BE49-F238E27FC236}">
                <a16:creationId xmlns:a16="http://schemas.microsoft.com/office/drawing/2014/main" id="{44681DB5-A300-AF97-2DFC-47A548F83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74" y="162354"/>
            <a:ext cx="166236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the system must satisfy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to sensitive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00984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65576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65576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65576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65576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&amp; CHECK constraints prevent invalid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09360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0936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response for search &amp; availability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8552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53144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53144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53144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3144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during hospital hours — critical for emergencies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792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supports growth without redesign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0984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65576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65576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65576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interfaces requiring minimal staff training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09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09360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protect against data loss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88552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153144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1531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53144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153144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timestamped for traceability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7" name="Picture 46" descr="Employability Dashboard">
            <a:extLst>
              <a:ext uri="{FF2B5EF4-FFF2-40B4-BE49-F238E27FC236}">
                <a16:creationId xmlns:a16="http://schemas.microsoft.com/office/drawing/2014/main" id="{8AD79E84-9A22-11B0-5EA2-B444F13B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611" y="112473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7679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 dirty="0"/>
              <a:t>End Users of the System</a:t>
            </a:r>
            <a:br>
              <a:rPr dirty="0"/>
            </a:b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26464" y="1810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26464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b="1"/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/>
              <a:t>Patient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0"/>
              <a:t>Uses patient registration and appointment-related services.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7540" y="4015242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46804" y="4271274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46804" y="427127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b="1"/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68980" y="511252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/>
              <a:t>Doctor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14700" y="547828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0"/>
              <a:t>Uses doctor and appointment management information.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14032" y="1810512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14032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b="1"/>
              <a:t>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/>
              <a:t>Nurse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0"/>
              <a:t>Uses nurse and admission-related information.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12580" y="4015242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181844" y="4271274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181844" y="427127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b="1"/>
              <a:t>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04020" y="511252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/>
              <a:t>Receptionist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49740" y="547828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0"/>
              <a:t>Uses receptionist and patient registration information.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92224" y="4071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282696" y="408708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404872" y="492833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450592" y="5294097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083296" y="410770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205472" y="494895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251192" y="5314717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6" name="Picture 45" descr="Employability Dashboard">
            <a:extLst>
              <a:ext uri="{FF2B5EF4-FFF2-40B4-BE49-F238E27FC236}">
                <a16:creationId xmlns:a16="http://schemas.microsoft.com/office/drawing/2014/main" id="{C36443DA-EE0F-FAD1-50D0-1FC3903B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690" y="193054"/>
            <a:ext cx="1770950" cy="6818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99452D-9612-34B2-B2B0-37E57506477E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902546"/>
          <a:ext cx="11247120" cy="550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3182576597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515115488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373788557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3966021601"/>
                    </a:ext>
                  </a:extLst>
                </a:gridCol>
              </a:tblGrid>
              <a:tr h="500765">
                <a:tc>
                  <a:txBody>
                    <a:bodyPr/>
                    <a:lstStyle/>
                    <a:p>
                      <a:r>
                        <a:rPr sz="950" b="1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50" b="1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50" b="1"/>
                        <a:t>Key 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50" b="1"/>
                        <a:t>Why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677670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 dirty="0"/>
                        <a:t>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 err="1"/>
                        <a:t>PatientID</a:t>
                      </a:r>
                      <a:endParaRPr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Name, DOB, Gender, </a:t>
                      </a:r>
                      <a:r>
                        <a:rPr sz="800" b="0" dirty="0" err="1"/>
                        <a:t>phn_number</a:t>
                      </a:r>
                      <a:endParaRPr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patient identity and contact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351666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DepartmentID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DeptName,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department name and hospital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665296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Doctor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DoctorID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Doc_Name, Specialization, DepartmentID, Consultation_fee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doctor details and department assignment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59803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Doctor_Phone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(DoctorID, phn_number)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DoctorID, phn_number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multivalued doctor phone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314445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Employees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EmployeeID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Name, DepartmentID, Shift_Timings, Phone_Number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common employee attributes and acts as the supertype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980183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Receptionist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EmployeeID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Desk_Number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receptionist-specific desk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756341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 dirty="0"/>
                        <a:t>Nurse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 err="1"/>
                        <a:t>EmployeeID</a:t>
                      </a:r>
                      <a:endParaRPr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Specialization, </a:t>
                      </a:r>
                      <a:r>
                        <a:rPr sz="800" b="0" dirty="0" err="1"/>
                        <a:t>Experience_Years</a:t>
                      </a:r>
                      <a:endParaRPr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nurse-specific specialization and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056221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Appointment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AppointmentID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PatientID, DoctorID, Appointment_Date, Appointment_Time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appointment information linking a patient and doctor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435456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Admission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AdmissionID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PatientID, AdmitDate, DischargeDate, BedNo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patient admission, discharge and bed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994996"/>
                  </a:ext>
                </a:extLst>
              </a:tr>
              <a:tr h="500765">
                <a:tc>
                  <a:txBody>
                    <a:bodyPr/>
                    <a:lstStyle/>
                    <a:p>
                      <a:r>
                        <a:rPr sz="800" b="0"/>
                        <a:t>Billing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BillID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/>
                        <a:t>PatientID, Billing_Date, Amount, PaymentStatus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 dirty="0"/>
                        <a:t>Stores patient billing information and payment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52815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2B9A6E-CC88-0AF2-9317-4398CAEE021F}"/>
              </a:ext>
            </a:extLst>
          </p:cNvPr>
          <p:cNvSpPr txBox="1"/>
          <p:nvPr/>
        </p:nvSpPr>
        <p:spPr>
          <a:xfrm>
            <a:off x="254000" y="17004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Primary Keys </a:t>
            </a:r>
            <a:endParaRPr lang="en-US" sz="3000" dirty="0"/>
          </a:p>
        </p:txBody>
      </p:sp>
      <p:pic>
        <p:nvPicPr>
          <p:cNvPr id="7" name="Picture 6" descr="Employability Dashboard">
            <a:extLst>
              <a:ext uri="{FF2B5EF4-FFF2-40B4-BE49-F238E27FC236}">
                <a16:creationId xmlns:a16="http://schemas.microsoft.com/office/drawing/2014/main" id="{3039A44A-101D-2890-1EF4-BC77ADA96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719" y="125076"/>
            <a:ext cx="1865921" cy="71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6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ER DESIGN – RELATIONSHIPS &amp; CARDINALITY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05F6E"/>
                </a:solidFill>
                <a:latin typeface="Aptos"/>
              </a:defRPr>
            </a:pPr>
            <a:r>
              <a:t>Hospital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46304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508760"/>
            <a:ext cx="324612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08760"/>
            <a:ext cx="114300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Cardinality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08760"/>
            <a:ext cx="475488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Simple Explanation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Books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993392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Patient → Appointment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93392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1 : 1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903720" y="1993392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One patient can schedule one appointment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46304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Handles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487168"/>
            <a:ext cx="324612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Appointment → Doctor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487168"/>
            <a:ext cx="114300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1 : 1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903720" y="2487168"/>
            <a:ext cx="475488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One Doctor handles one patient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80944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Works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980944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Doctor → 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980944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M :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980944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Many doctors can work in one department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74720"/>
            <a:ext cx="146304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Department Has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474720"/>
            <a:ext cx="324612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Department → Employee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474720"/>
            <a:ext cx="114300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1 : M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903720" y="3474720"/>
            <a:ext cx="4754880" cy="47548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One Department has many employees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68496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Patient Admitted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968496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Patient → Admission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968496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900" b="0"/>
              <a:t>1 :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968496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900" b="0"/>
              <a:t>A patient is admitted to the hospital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6025896"/>
            <a:ext cx="5349240" cy="685800"/>
          </a:xfrm>
          <a:prstGeom prst="roundRect">
            <a:avLst/>
          </a:prstGeom>
          <a:solidFill>
            <a:srgbClr val="E2ECF7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Employability Dashboard">
            <a:extLst>
              <a:ext uri="{FF2B5EF4-FFF2-40B4-BE49-F238E27FC236}">
                <a16:creationId xmlns:a16="http://schemas.microsoft.com/office/drawing/2014/main" id="{197C2ED7-8F11-37AC-C026-52A7ADC15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610" y="152836"/>
            <a:ext cx="1865921" cy="718457"/>
          </a:xfrm>
          <a:prstGeom prst="rect">
            <a:avLst/>
          </a:prstGeom>
        </p:spPr>
      </p:pic>
      <p:sp>
        <p:nvSpPr>
          <p:cNvPr id="30" name="Rectangle 7"/>
          <p:cNvSpPr/>
          <p:nvPr/>
        </p:nvSpPr>
        <p:spPr>
          <a:xfrm>
            <a:off x="502920" y="4462272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Pays</a:t>
            </a:r>
          </a:p>
        </p:txBody>
      </p:sp>
      <p:sp>
        <p:nvSpPr>
          <p:cNvPr id="33" name="Rectangle 8"/>
          <p:cNvSpPr/>
          <p:nvPr/>
        </p:nvSpPr>
        <p:spPr>
          <a:xfrm>
            <a:off x="2057400" y="4462272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Patient → Billing</a:t>
            </a:r>
          </a:p>
        </p:txBody>
      </p:sp>
      <p:sp>
        <p:nvSpPr>
          <p:cNvPr id="34" name="Rectangle 9"/>
          <p:cNvSpPr/>
          <p:nvPr/>
        </p:nvSpPr>
        <p:spPr>
          <a:xfrm>
            <a:off x="5486400" y="4462272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1 : M</a:t>
            </a:r>
            <a:endParaRPr dirty="0"/>
          </a:p>
        </p:txBody>
      </p:sp>
      <p:sp>
        <p:nvSpPr>
          <p:cNvPr id="35" name="Rectangle 10"/>
          <p:cNvSpPr/>
          <p:nvPr/>
        </p:nvSpPr>
        <p:spPr>
          <a:xfrm>
            <a:off x="6903720" y="4462272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A patient pays the billing amount</a:t>
            </a:r>
          </a:p>
        </p:txBody>
      </p:sp>
      <p:sp>
        <p:nvSpPr>
          <p:cNvPr id="36" name="Rectangle 7"/>
          <p:cNvSpPr/>
          <p:nvPr/>
        </p:nvSpPr>
        <p:spPr>
          <a:xfrm>
            <a:off x="502920" y="4956048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Is Receptionist</a:t>
            </a:r>
          </a:p>
        </p:txBody>
      </p:sp>
      <p:sp>
        <p:nvSpPr>
          <p:cNvPr id="37" name="Rectangle 8"/>
          <p:cNvSpPr/>
          <p:nvPr/>
        </p:nvSpPr>
        <p:spPr>
          <a:xfrm>
            <a:off x="2057400" y="4956048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Employee → Receptionist</a:t>
            </a:r>
          </a:p>
        </p:txBody>
      </p:sp>
      <p:sp>
        <p:nvSpPr>
          <p:cNvPr id="38" name="Rectangle 9"/>
          <p:cNvSpPr/>
          <p:nvPr/>
        </p:nvSpPr>
        <p:spPr>
          <a:xfrm>
            <a:off x="5486400" y="4956048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1 : 1</a:t>
            </a:r>
            <a:endParaRPr dirty="0"/>
          </a:p>
        </p:txBody>
      </p:sp>
      <p:sp>
        <p:nvSpPr>
          <p:cNvPr id="39" name="Rectangle 10"/>
          <p:cNvSpPr/>
          <p:nvPr/>
        </p:nvSpPr>
        <p:spPr>
          <a:xfrm>
            <a:off x="6903720" y="4956048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An employee can be a receptionist</a:t>
            </a:r>
          </a:p>
        </p:txBody>
      </p:sp>
      <p:sp>
        <p:nvSpPr>
          <p:cNvPr id="40" name="Rectangle 7"/>
          <p:cNvSpPr/>
          <p:nvPr/>
        </p:nvSpPr>
        <p:spPr>
          <a:xfrm>
            <a:off x="502920" y="5449824"/>
            <a:ext cx="14630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Is Nurse</a:t>
            </a:r>
          </a:p>
        </p:txBody>
      </p:sp>
      <p:sp>
        <p:nvSpPr>
          <p:cNvPr id="41" name="Rectangle 8"/>
          <p:cNvSpPr/>
          <p:nvPr/>
        </p:nvSpPr>
        <p:spPr>
          <a:xfrm>
            <a:off x="2057400" y="5449824"/>
            <a:ext cx="3246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Employee → Nurse</a:t>
            </a:r>
          </a:p>
        </p:txBody>
      </p:sp>
      <p:sp>
        <p:nvSpPr>
          <p:cNvPr id="42" name="Rectangle 9"/>
          <p:cNvSpPr/>
          <p:nvPr/>
        </p:nvSpPr>
        <p:spPr>
          <a:xfrm>
            <a:off x="5486400" y="5449824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sz="850" b="0"/>
              <a:t>1 : 1</a:t>
            </a:r>
            <a:endParaRPr dirty="0"/>
          </a:p>
        </p:txBody>
      </p:sp>
      <p:sp>
        <p:nvSpPr>
          <p:cNvPr id="43" name="Rectangle 10"/>
          <p:cNvSpPr/>
          <p:nvPr/>
        </p:nvSpPr>
        <p:spPr>
          <a:xfrm>
            <a:off x="6903720" y="5449824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sz="850" b="0"/>
              <a:t>An employee can be a nurse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4615" y="6368796"/>
            <a:ext cx="228940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 dirty="0"/>
              <a:t>1 : M = One-to-Many   |   1 = One   |   M = Many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RELATIONAL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PATIENT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1097280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PatientID (PK), Name, DOB, Gender, phn_number (UNIQUE)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563624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563624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DepartmentID (PK), DeptName (UNIQUE),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29967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DOCTOR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29967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DoctorID (PK), Doc_Name, Specialization, DepartmentID (FK), Consultation_fee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96312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DOCTOR_PHONE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496312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DoctorID (PK, FK), phn_number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62656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EMPLOYEES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962656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EmployeeID (PK), Name, DepartmentID (FK), Shift_Timings, Phone_Number (UNIQUE)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RECEPTIONIST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3429000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EmployeeID (PK, FK), Desk_Number (UNIQUE)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sz="850" b="0"/>
              <a:t>PK = Primary Key    FK = Foreign Key    Foreign keys connect related tables.</a:t>
            </a:r>
          </a:p>
        </p:txBody>
      </p:sp>
      <p:pic>
        <p:nvPicPr>
          <p:cNvPr id="17" name="Picture 16" descr="Employability Dashboard">
            <a:extLst>
              <a:ext uri="{FF2B5EF4-FFF2-40B4-BE49-F238E27FC236}">
                <a16:creationId xmlns:a16="http://schemas.microsoft.com/office/drawing/2014/main" id="{EB2AC249-AADC-2F54-D80F-C1B5FC73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997" y="120831"/>
            <a:ext cx="1865921" cy="718457"/>
          </a:xfrm>
          <a:prstGeom prst="rect">
            <a:avLst/>
          </a:prstGeom>
        </p:spPr>
      </p:pic>
      <p:sp>
        <p:nvSpPr>
          <p:cNvPr id="16" name="Rectangle 12"/>
          <p:cNvSpPr/>
          <p:nvPr/>
        </p:nvSpPr>
        <p:spPr>
          <a:xfrm>
            <a:off x="731520" y="3895344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NURSE</a:t>
            </a:r>
          </a:p>
        </p:txBody>
      </p:sp>
      <p:sp>
        <p:nvSpPr>
          <p:cNvPr id="18" name="Rectangle 13"/>
          <p:cNvSpPr/>
          <p:nvPr/>
        </p:nvSpPr>
        <p:spPr>
          <a:xfrm>
            <a:off x="2788920" y="3895344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EmployeeID (PK, FK), Specialization, Experience_Years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Rectangle 12"/>
          <p:cNvSpPr/>
          <p:nvPr/>
        </p:nvSpPr>
        <p:spPr>
          <a:xfrm>
            <a:off x="731520" y="4361688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APPOINTMENT</a:t>
            </a:r>
          </a:p>
        </p:txBody>
      </p:sp>
      <p:sp>
        <p:nvSpPr>
          <p:cNvPr id="20" name="Rectangle 13"/>
          <p:cNvSpPr/>
          <p:nvPr/>
        </p:nvSpPr>
        <p:spPr>
          <a:xfrm>
            <a:off x="2788920" y="4361688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AppointmentID (PK), PatientID (FK, UNIQUE), DoctorID (FK, UNIQUE), Appointment_Date, Appointment_Time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" name="Rectangle 12"/>
          <p:cNvSpPr/>
          <p:nvPr/>
        </p:nvSpPr>
        <p:spPr>
          <a:xfrm>
            <a:off x="731520" y="4828032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ADMISSION</a:t>
            </a:r>
          </a:p>
        </p:txBody>
      </p:sp>
      <p:sp>
        <p:nvSpPr>
          <p:cNvPr id="22" name="Rectangle 13"/>
          <p:cNvSpPr/>
          <p:nvPr/>
        </p:nvSpPr>
        <p:spPr>
          <a:xfrm>
            <a:off x="2788920" y="4828032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AdmissionID (PK), PatientID (FK, UNIQUE), AdmitDate, DischargeDate, BedNo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ectangle 12"/>
          <p:cNvSpPr/>
          <p:nvPr/>
        </p:nvSpPr>
        <p:spPr>
          <a:xfrm>
            <a:off x="731520" y="5294376"/>
            <a:ext cx="2057400" cy="429768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sz="850" b="1">
                <a:solidFill>
                  <a:schemeClr val="tx1"/>
                </a:solidFill>
              </a:rPr>
              <a:t>BILLING</a:t>
            </a:r>
          </a:p>
        </p:txBody>
      </p:sp>
      <p:sp>
        <p:nvSpPr>
          <p:cNvPr id="24" name="Rectangle 13"/>
          <p:cNvSpPr/>
          <p:nvPr/>
        </p:nvSpPr>
        <p:spPr>
          <a:xfrm>
            <a:off x="2788920" y="5294376"/>
            <a:ext cx="8549640" cy="429768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sz="800" b="0">
                <a:solidFill>
                  <a:schemeClr val="tx1"/>
                </a:solidFill>
              </a:rPr>
              <a:t>BillID (PK), PatientID (FK), Billing_Date, Amount, PaymentStatus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D1E1F1-9C8C-9161-FF48-F7E55D42909C}"/>
              </a:ext>
            </a:extLst>
          </p:cNvPr>
          <p:cNvSpPr txBox="1"/>
          <p:nvPr/>
        </p:nvSpPr>
        <p:spPr>
          <a:xfrm>
            <a:off x="-946954" y="351894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IN" sz="2800" dirty="0"/>
              <a:t>ER DIAGRAM</a:t>
            </a:r>
          </a:p>
        </p:txBody>
      </p:sp>
      <p:pic>
        <p:nvPicPr>
          <p:cNvPr id="12" name="Picture 11" descr="Employability Dashboard">
            <a:extLst>
              <a:ext uri="{FF2B5EF4-FFF2-40B4-BE49-F238E27FC236}">
                <a16:creationId xmlns:a16="http://schemas.microsoft.com/office/drawing/2014/main" id="{1AE828B9-2DC6-E7AC-F8E1-48BCA93BD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997" y="153988"/>
            <a:ext cx="1865921" cy="718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5A04D3-D4D4-4DF1-0D23-744E246F0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081" y="1010652"/>
            <a:ext cx="8679723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6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75541" y="1852954"/>
            <a:ext cx="4850805" cy="29915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PATIENT</a:t>
            </a:r>
            <a:br>
              <a:rPr dirty="0"/>
            </a:br>
            <a:r>
              <a:rPr dirty="0"/>
              <a:t>CREATE TABLE PATIENT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VARCHAR2(10),</a:t>
            </a:r>
            <a:br>
              <a:rPr dirty="0"/>
            </a:br>
            <a:r>
              <a:rPr dirty="0"/>
              <a:t>    Name        VARCHAR2(60) NOT NULL,</a:t>
            </a:r>
            <a:br>
              <a:rPr dirty="0"/>
            </a:br>
            <a:r>
              <a:rPr dirty="0"/>
              <a:t>    DOB         DATE NOT NULL,</a:t>
            </a:r>
            <a:br>
              <a:rPr dirty="0"/>
            </a:br>
            <a:r>
              <a:rPr dirty="0"/>
              <a:t>    Gender      CHAR(1)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phn_number</a:t>
            </a:r>
            <a:r>
              <a:rPr dirty="0"/>
              <a:t>  VARCHAR2(10)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pk_patient</a:t>
            </a:r>
            <a:r>
              <a:rPr dirty="0"/>
              <a:t> PRIMARY KEY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uq_patient_phone</a:t>
            </a:r>
            <a:r>
              <a:rPr dirty="0"/>
              <a:t> UNIQUE (</a:t>
            </a:r>
            <a:r>
              <a:rPr dirty="0" err="1"/>
              <a:t>phn_number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chk_patient_gender</a:t>
            </a:r>
            <a:r>
              <a:rPr dirty="0"/>
              <a:t> CHECK (Gender IN ('M','F','O')),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chk_patient_phone</a:t>
            </a:r>
            <a:r>
              <a:rPr dirty="0"/>
              <a:t> CHECK (</a:t>
            </a:r>
            <a:br>
              <a:rPr dirty="0"/>
            </a:br>
            <a:r>
              <a:rPr dirty="0"/>
              <a:t>        LENGTH(</a:t>
            </a:r>
            <a:r>
              <a:rPr dirty="0" err="1"/>
              <a:t>phn_number</a:t>
            </a:r>
            <a:r>
              <a:rPr dirty="0"/>
              <a:t>) = 10</a:t>
            </a:r>
            <a:br>
              <a:rPr dirty="0"/>
            </a:br>
            <a:r>
              <a:rPr dirty="0"/>
              <a:t>        AND SUBSTR(phn_number,1,1) IN ('6','7','8','9')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DEPARTMENT</a:t>
            </a:r>
            <a:br>
              <a:rPr dirty="0"/>
            </a:br>
            <a:r>
              <a:rPr dirty="0"/>
              <a:t>CREATE TABLE DEPARTMENT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DeptName</a:t>
            </a:r>
            <a:r>
              <a:rPr dirty="0"/>
              <a:t>     VARCHAR2(60) NOT NULL,</a:t>
            </a:r>
            <a:br>
              <a:rPr dirty="0"/>
            </a:br>
            <a:r>
              <a:rPr dirty="0"/>
              <a:t>    Location     VARCHAR2(100)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pk_department</a:t>
            </a:r>
            <a:r>
              <a:rPr dirty="0"/>
              <a:t> PRIMARY KEY 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uq_department_name</a:t>
            </a:r>
            <a:r>
              <a:rPr dirty="0"/>
              <a:t> UNIQUE (</a:t>
            </a:r>
            <a:r>
              <a:rPr dirty="0" err="1"/>
              <a:t>DeptName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FBE28-EAE0-5C87-FCE1-E1161BDAA3C4}"/>
              </a:ext>
            </a:extLst>
          </p:cNvPr>
          <p:cNvSpPr txBox="1"/>
          <p:nvPr/>
        </p:nvSpPr>
        <p:spPr>
          <a:xfrm>
            <a:off x="6265656" y="1871650"/>
            <a:ext cx="4290089" cy="31146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DOCTOR</a:t>
            </a:r>
            <a:br>
              <a:rPr dirty="0"/>
            </a:br>
            <a:r>
              <a:rPr dirty="0"/>
              <a:t>CREATE TABLE DOCTOR (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  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Doc_Name</a:t>
            </a:r>
            <a:r>
              <a:rPr dirty="0"/>
              <a:t>          VARCHAR2(60) NOT NULL,</a:t>
            </a:r>
            <a:br>
              <a:rPr dirty="0"/>
            </a:br>
            <a:r>
              <a:rPr dirty="0"/>
              <a:t>    Specialization 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     VARCHAR2(10) NOT NULL,</a:t>
            </a:r>
            <a:br>
              <a:rPr dirty="0"/>
            </a:br>
            <a:r>
              <a:rPr dirty="0"/>
              <a:t>    Consultation_fee  NUMBER(10,2)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pk_doctor</a:t>
            </a:r>
            <a:r>
              <a:rPr dirty="0"/>
              <a:t> PRIMARY KEY 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fk_doctor_department</a:t>
            </a:r>
            <a:br>
              <a:rPr dirty="0"/>
            </a:br>
            <a:r>
              <a:rPr dirty="0"/>
              <a:t>        FOREIGN KEY (</a:t>
            </a:r>
            <a:r>
              <a:rPr dirty="0" err="1"/>
              <a:t>DepartmentID</a:t>
            </a:r>
            <a:r>
              <a:rPr dirty="0"/>
              <a:t>) REFERENCES DEPARTMENT(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chk_doctor_fee</a:t>
            </a:r>
            <a:r>
              <a:rPr dirty="0"/>
              <a:t> CHECK (Consultation_fee &gt; 0)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Multivalued doctor phone attribute</a:t>
            </a:r>
            <a:br>
              <a:rPr dirty="0"/>
            </a:br>
            <a:r>
              <a:rPr dirty="0"/>
              <a:t>CREATE TABLE DOCTOR_PHONE (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phn_number</a:t>
            </a:r>
            <a:r>
              <a:rPr dirty="0"/>
              <a:t>  VARCHAR2(10),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pk_doctor_phone</a:t>
            </a:r>
            <a:r>
              <a:rPr dirty="0"/>
              <a:t> PRIMARY KEY (</a:t>
            </a:r>
            <a:r>
              <a:rPr dirty="0" err="1"/>
              <a:t>DoctorID</a:t>
            </a:r>
            <a:r>
              <a:rPr dirty="0"/>
              <a:t>, </a:t>
            </a:r>
            <a:r>
              <a:rPr dirty="0" err="1"/>
              <a:t>phn_number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fk_doctor_phone</a:t>
            </a:r>
            <a:br>
              <a:rPr dirty="0"/>
            </a:br>
            <a:r>
              <a:rPr dirty="0"/>
              <a:t>        FOREIGN KEY (</a:t>
            </a:r>
            <a:r>
              <a:rPr dirty="0" err="1"/>
              <a:t>DoctorID</a:t>
            </a:r>
            <a:r>
              <a:rPr dirty="0"/>
              <a:t>) REFERENCES DOCTOR(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chk_doctor_phone</a:t>
            </a:r>
            <a:r>
              <a:rPr dirty="0"/>
              <a:t> CHECK (</a:t>
            </a:r>
            <a:br>
              <a:rPr dirty="0"/>
            </a:br>
            <a:r>
              <a:rPr dirty="0"/>
              <a:t>        LENGTH(</a:t>
            </a:r>
            <a:r>
              <a:rPr dirty="0" err="1"/>
              <a:t>phn_number</a:t>
            </a:r>
            <a:r>
              <a:rPr dirty="0"/>
              <a:t>) = 10</a:t>
            </a:r>
            <a:br>
              <a:rPr dirty="0"/>
            </a:br>
            <a:r>
              <a:rPr dirty="0"/>
              <a:t>        AND SUBSTR(phn_number,1,1) IN ('6','7','8','9')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9460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3398" y="1256097"/>
            <a:ext cx="7300708" cy="43458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EMPLOYEES supertype</a:t>
            </a:r>
            <a:br>
              <a:rPr dirty="0"/>
            </a:br>
            <a:r>
              <a:rPr dirty="0"/>
              <a:t>CREATE TABLE EMPLOYEES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   VARCHAR2(10),</a:t>
            </a:r>
            <a:br>
              <a:rPr dirty="0"/>
            </a:br>
            <a:r>
              <a:rPr dirty="0"/>
              <a:t>    Name        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Shift_Timings</a:t>
            </a:r>
            <a:r>
              <a:rPr dirty="0"/>
              <a:t>  VARCHAR2(20)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Phone_Number</a:t>
            </a:r>
            <a:r>
              <a:rPr dirty="0"/>
              <a:t>   VARCHAR2(10)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pk_employees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fk_employee_department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DepartmentID</a:t>
            </a:r>
            <a:r>
              <a:rPr dirty="0"/>
              <a:t>) REFERENCES DEPARTMENT(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uq_employee_phone</a:t>
            </a:r>
            <a:r>
              <a:rPr dirty="0"/>
              <a:t> UNIQUE (</a:t>
            </a:r>
            <a:r>
              <a:rPr dirty="0" err="1"/>
              <a:t>Phone_Number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chk_employee_phone</a:t>
            </a:r>
            <a:r>
              <a:rPr dirty="0"/>
              <a:t> CHECK (LENGTH(</a:t>
            </a:r>
            <a:r>
              <a:rPr dirty="0" err="1"/>
              <a:t>Phone_Number</a:t>
            </a:r>
            <a:r>
              <a:rPr dirty="0"/>
              <a:t>) = 10 AND SUBSTR(Phone_Number,1,1) IN ('6','7','8','9')),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chk_employee_shift</a:t>
            </a:r>
            <a:r>
              <a:rPr dirty="0"/>
              <a:t> CHECK (</a:t>
            </a:r>
            <a:r>
              <a:rPr dirty="0" err="1"/>
              <a:t>Shift_Timings</a:t>
            </a:r>
            <a:r>
              <a:rPr dirty="0"/>
              <a:t> IN ('</a:t>
            </a:r>
            <a:r>
              <a:rPr dirty="0" err="1"/>
              <a:t>Morning','Evening','Night</a:t>
            </a:r>
            <a:r>
              <a:rPr dirty="0"/>
              <a:t>'))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RECEPTIONIST subtype</a:t>
            </a:r>
            <a:br>
              <a:rPr dirty="0"/>
            </a:br>
            <a:r>
              <a:rPr dirty="0"/>
              <a:t>CREATE TABLE RECEPTIONIST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Desk_Number</a:t>
            </a:r>
            <a:r>
              <a:rPr dirty="0"/>
              <a:t> VARCHAR2(20)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pk_receptionist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fk_receptionist_employee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EmployeeID</a:t>
            </a:r>
            <a:r>
              <a:rPr dirty="0"/>
              <a:t>) REFERENCES EMPLOYEES(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uq_receptionist_desk</a:t>
            </a:r>
            <a:r>
              <a:rPr dirty="0"/>
              <a:t> UNIQUE (</a:t>
            </a:r>
            <a:r>
              <a:rPr dirty="0" err="1"/>
              <a:t>Desk_Number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NURSE subtype</a:t>
            </a:r>
            <a:br>
              <a:rPr dirty="0"/>
            </a:br>
            <a:r>
              <a:rPr dirty="0"/>
              <a:t>CREATE TABLE NURSE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     VARCHAR2(10),</a:t>
            </a:r>
            <a:br>
              <a:rPr dirty="0"/>
            </a:br>
            <a:r>
              <a:rPr dirty="0"/>
              <a:t>    Specialization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Experience_Years</a:t>
            </a:r>
            <a:r>
              <a:rPr dirty="0"/>
              <a:t> NUMBER(2)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pk_nurse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fk_nurse_employee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EmployeeID</a:t>
            </a:r>
            <a:r>
              <a:rPr dirty="0"/>
              <a:t>) REFERENCES EMPLOYEES(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chk_nurse_experience</a:t>
            </a:r>
            <a:r>
              <a:rPr dirty="0"/>
              <a:t> CHECK (</a:t>
            </a:r>
            <a:r>
              <a:rPr dirty="0" err="1"/>
              <a:t>Experience_Years</a:t>
            </a:r>
            <a:r>
              <a:rPr dirty="0"/>
              <a:t> &gt;= 0 AND </a:t>
            </a:r>
            <a:r>
              <a:rPr dirty="0" err="1"/>
              <a:t>Experience_Years</a:t>
            </a:r>
            <a:r>
              <a:rPr dirty="0"/>
              <a:t> &lt;= 50)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</p:spTree>
    <p:extLst>
      <p:ext uri="{BB962C8B-B14F-4D97-AF65-F5344CB8AC3E}">
        <p14:creationId xmlns:p14="http://schemas.microsoft.com/office/powerpoint/2010/main" val="170815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4168" y="854964"/>
            <a:ext cx="7732028" cy="5468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APPOINTMENT</a:t>
            </a:r>
            <a:br>
              <a:rPr dirty="0"/>
            </a:br>
            <a:r>
              <a:rPr dirty="0"/>
              <a:t>-- 1:1 Patient-Appointment and 1:1 Doctor-Appointment as shown in ER</a:t>
            </a:r>
            <a:br>
              <a:rPr dirty="0"/>
            </a:br>
            <a:r>
              <a:rPr dirty="0"/>
              <a:t>-- </a:t>
            </a:r>
            <a:r>
              <a:rPr dirty="0" err="1"/>
              <a:t>Doc_Name</a:t>
            </a:r>
            <a:r>
              <a:rPr dirty="0"/>
              <a:t> is intentionally removed for 3NF.</a:t>
            </a:r>
            <a:br>
              <a:rPr dirty="0"/>
            </a:br>
            <a:r>
              <a:rPr dirty="0"/>
              <a:t>CREATE TABLE APPOINTMENT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AppointmentID</a:t>
            </a:r>
            <a:r>
              <a:rPr dirty="0"/>
              <a:t>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Appointment_Date</a:t>
            </a:r>
            <a:r>
              <a:rPr dirty="0"/>
              <a:t> DATE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Appointment_Time</a:t>
            </a:r>
            <a:r>
              <a:rPr dirty="0"/>
              <a:t> VARCHAR2(5)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pk_appointment</a:t>
            </a:r>
            <a:r>
              <a:rPr dirty="0"/>
              <a:t> PRIMARY KEY (</a:t>
            </a:r>
            <a:r>
              <a:rPr dirty="0" err="1"/>
              <a:t>AppointmentID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fk_appointment_patient</a:t>
            </a:r>
            <a:r>
              <a:rPr dirty="0"/>
              <a:t>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fk_appointment_doctor</a:t>
            </a:r>
            <a:r>
              <a:rPr dirty="0"/>
              <a:t> FOREIGN KEY (</a:t>
            </a:r>
            <a:r>
              <a:rPr dirty="0" err="1"/>
              <a:t>DoctorID</a:t>
            </a:r>
            <a:r>
              <a:rPr dirty="0"/>
              <a:t>) REFERENCES DOCTOR(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uq_appointment_patient</a:t>
            </a:r>
            <a:r>
              <a:rPr dirty="0"/>
              <a:t> UNIQUE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uq_appointment_doctor</a:t>
            </a:r>
            <a:r>
              <a:rPr dirty="0"/>
              <a:t> UNIQUE (</a:t>
            </a:r>
            <a:r>
              <a:rPr dirty="0" err="1"/>
              <a:t>DoctorID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ADMISSION</a:t>
            </a:r>
            <a:br>
              <a:rPr dirty="0"/>
            </a:br>
            <a:r>
              <a:rPr dirty="0"/>
              <a:t>-- 1:1 Patient-Admission as shown in ER</a:t>
            </a:r>
            <a:br>
              <a:rPr dirty="0"/>
            </a:br>
            <a:r>
              <a:rPr dirty="0"/>
              <a:t>CREATE TABLE ADMISSION (</a:t>
            </a:r>
            <a:br>
              <a:rPr dirty="0"/>
            </a:br>
            <a:r>
              <a:rPr dirty="0"/>
              <a:t>    </a:t>
            </a:r>
            <a:r>
              <a:rPr dirty="0" err="1"/>
              <a:t>AdmissionID</a:t>
            </a:r>
            <a:r>
              <a:rPr dirty="0"/>
              <a:t>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AdmitDate</a:t>
            </a:r>
            <a:r>
              <a:rPr dirty="0"/>
              <a:t>     DATE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DischargeDate</a:t>
            </a:r>
            <a:r>
              <a:rPr dirty="0"/>
              <a:t> DATE,</a:t>
            </a:r>
            <a:br>
              <a:rPr dirty="0"/>
            </a:br>
            <a:r>
              <a:rPr dirty="0"/>
              <a:t>    </a:t>
            </a:r>
            <a:r>
              <a:rPr dirty="0" err="1"/>
              <a:t>BedNo</a:t>
            </a:r>
            <a:r>
              <a:rPr dirty="0"/>
              <a:t>         VARCHAR2(20)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pk_admission</a:t>
            </a:r>
            <a:r>
              <a:rPr dirty="0"/>
              <a:t> PRIMARY KEY (</a:t>
            </a:r>
            <a:r>
              <a:rPr dirty="0" err="1"/>
              <a:t>AdmissionID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fk_admission_patient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uq_admission_patient</a:t>
            </a:r>
            <a:r>
              <a:rPr dirty="0"/>
              <a:t> UNIQUE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chk_admission_dates</a:t>
            </a:r>
            <a:r>
              <a:rPr dirty="0"/>
              <a:t> CHECK (</a:t>
            </a:r>
            <a:r>
              <a:rPr dirty="0" err="1"/>
              <a:t>DischargeDate</a:t>
            </a:r>
            <a:r>
              <a:rPr dirty="0"/>
              <a:t> IS NULL OR </a:t>
            </a:r>
            <a:r>
              <a:rPr dirty="0" err="1"/>
              <a:t>DischargeDate</a:t>
            </a:r>
            <a:r>
              <a:rPr dirty="0"/>
              <a:t> &gt;= </a:t>
            </a:r>
            <a:r>
              <a:rPr dirty="0" err="1"/>
              <a:t>AdmitDate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BILLING</a:t>
            </a:r>
            <a:br>
              <a:rPr dirty="0"/>
            </a:br>
            <a:r>
              <a:rPr dirty="0"/>
              <a:t>-- 1:N Patient-Billing as shown in ER</a:t>
            </a:r>
            <a:br>
              <a:rPr dirty="0"/>
            </a:br>
            <a:r>
              <a:rPr dirty="0"/>
              <a:t>CREATE TABLE BILLING (</a:t>
            </a:r>
            <a:br>
              <a:rPr dirty="0"/>
            </a:br>
            <a:r>
              <a:rPr dirty="0"/>
              <a:t>    </a:t>
            </a:r>
            <a:r>
              <a:rPr dirty="0" err="1"/>
              <a:t>BillID</a:t>
            </a:r>
            <a:r>
              <a:rPr dirty="0"/>
              <a:t>    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Billing_Date</a:t>
            </a:r>
            <a:r>
              <a:rPr dirty="0"/>
              <a:t>  DATE NOT NULL,</a:t>
            </a:r>
            <a:br>
              <a:rPr dirty="0"/>
            </a:br>
            <a:r>
              <a:rPr dirty="0"/>
              <a:t>    Amount        NUMBER(10,2)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PaymentStatus</a:t>
            </a:r>
            <a:r>
              <a:rPr dirty="0"/>
              <a:t> VARCHAR2(15)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pk_billing</a:t>
            </a:r>
            <a:r>
              <a:rPr dirty="0"/>
              <a:t> PRIMARY KEY (</a:t>
            </a:r>
            <a:r>
              <a:rPr dirty="0" err="1"/>
              <a:t>BillID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fk_billing_patient</a:t>
            </a:r>
            <a:r>
              <a:rPr dirty="0"/>
              <a:t>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chk_billing_amount</a:t>
            </a:r>
            <a:r>
              <a:rPr dirty="0"/>
              <a:t> CHECK (Amount &gt; 0),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chk_payment_status</a:t>
            </a:r>
            <a:r>
              <a:rPr dirty="0"/>
              <a:t> CHECK (</a:t>
            </a:r>
            <a:r>
              <a:rPr dirty="0" err="1"/>
              <a:t>PaymentStatus</a:t>
            </a:r>
            <a:r>
              <a:rPr dirty="0"/>
              <a:t> IN ('PAID','PENDING'))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</p:spTree>
    <p:extLst>
      <p:ext uri="{BB962C8B-B14F-4D97-AF65-F5344CB8AC3E}">
        <p14:creationId xmlns:p14="http://schemas.microsoft.com/office/powerpoint/2010/main" val="1088721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1. Display All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 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PATIENTID   NAME             DOB          GENDER   PHN_NUMBER</a:t>
            </a:r>
            <a:br>
              <a:rPr dirty="0"/>
            </a:br>
            <a:r>
              <a:rPr dirty="0"/>
              <a:t>P001        Ravi Kumar       15-JUN-2001   M        9876543210</a:t>
            </a:r>
            <a:br>
              <a:rPr dirty="0"/>
            </a:br>
            <a:r>
              <a:rPr dirty="0"/>
              <a:t>P002        Anjali Reddy     22-AUG-1999   F        9123456780</a:t>
            </a:r>
            <a:br>
              <a:rPr dirty="0"/>
            </a:br>
            <a:r>
              <a:rPr dirty="0"/>
              <a:t>P003        Kiran Rao        10-JAN-2003   M        9988776655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2. Display Patient Names and Phone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Name, </a:t>
            </a:r>
            <a:r>
              <a:rPr dirty="0" err="1"/>
              <a:t>phn_number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NAME             PHN_NUMBER</a:t>
            </a:r>
            <a:br>
              <a:rPr dirty="0"/>
            </a:br>
            <a:r>
              <a:rPr dirty="0"/>
              <a:t>Ravi Kumar       9876543210</a:t>
            </a:r>
            <a:br>
              <a:rPr dirty="0"/>
            </a:br>
            <a:r>
              <a:rPr dirty="0"/>
              <a:t>Anjali Reddy     9123456780</a:t>
            </a:r>
            <a:br>
              <a:rPr dirty="0"/>
            </a:br>
            <a:r>
              <a:rPr dirty="0"/>
              <a:t>Kiran Rao        9988776655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3. Find Female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WHERE Gender = 'F';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P002        Anjali Reddy     22-AUG-1999   F        9123456780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4. Find Patients Born After 2000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WHERE DOB &gt; DATE '2000-01-01';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P001        Ravi Kumar       15-JUN-2001   M        9876543210</a:t>
            </a:r>
            <a:br/>
            <a:r>
              <a:t>P003        Kiran Rao        10-JAN-2003   M        9988776655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5. Sort Patients by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ORDER BY Name ASC;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P002        Anjali Reddy     22-AUG-1999   F        9123456780</a:t>
            </a:r>
            <a:br/>
            <a:r>
              <a:t>P003        Kiran Rao        10-JAN-2003   M        9988776655</a:t>
            </a:r>
            <a:br/>
            <a:r>
              <a:t>P001        Ravi Kumar       15-JUN-2001   M        9876543210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6. Count Total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COUNT(*) AS </a:t>
            </a:r>
            <a:r>
              <a:rPr dirty="0" err="1"/>
              <a:t>Total_Patients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TOTAL_PATIENTS</a:t>
            </a:r>
            <a:br/>
            <a: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7. Display Unique Genders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DISTINCT Gender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GENDER</a:t>
            </a:r>
            <a:br/>
            <a:r>
              <a:t>F</a:t>
            </a:r>
            <a:br/>
            <a:r>
              <a:t>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3996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8</a:t>
            </a:r>
            <a:r>
              <a:rPr dirty="0"/>
              <a:t>. Patient Details with Appointment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</a:t>
            </a:r>
            <a:r>
              <a:rPr dirty="0" err="1"/>
              <a:t>p.PatientID</a:t>
            </a:r>
            <a:r>
              <a:rPr dirty="0"/>
              <a:t>, </a:t>
            </a:r>
            <a:r>
              <a:rPr dirty="0" err="1"/>
              <a:t>p.Name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a.AppointmentID</a:t>
            </a:r>
            <a:r>
              <a:rPr dirty="0"/>
              <a:t>, </a:t>
            </a:r>
            <a:r>
              <a:rPr dirty="0" err="1"/>
              <a:t>a.AppointmentDate</a:t>
            </a:r>
            <a:br>
              <a:rPr dirty="0"/>
            </a:br>
            <a:r>
              <a:rPr dirty="0"/>
              <a:t>FROM PATIENT p</a:t>
            </a:r>
            <a:br>
              <a:rPr dirty="0"/>
            </a:br>
            <a:r>
              <a:rPr dirty="0"/>
              <a:t>JOIN APPOINTMENT a</a:t>
            </a:r>
            <a:br>
              <a:rPr dirty="0"/>
            </a:br>
            <a:r>
              <a:rPr dirty="0"/>
              <a:t>ON </a:t>
            </a:r>
            <a:r>
              <a:rPr dirty="0" err="1"/>
              <a:t>p.PatientID</a:t>
            </a:r>
            <a:r>
              <a:rPr dirty="0"/>
              <a:t> = </a:t>
            </a:r>
            <a:r>
              <a:rPr dirty="0" err="1"/>
              <a:t>a.PatientID</a:t>
            </a:r>
            <a:r>
              <a:rPr dirty="0"/>
              <a:t>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APPOINTMENTID   APPOINTMENTDATE</a:t>
            </a:r>
            <a:br/>
            <a:r>
              <a:t>P001        Ravi Kumar    A101            20-SEP-2026</a:t>
            </a:r>
            <a:br/>
            <a:r>
              <a:t>P002        Anjali Reddy  A102            21-SEP-2026</a:t>
            </a:r>
            <a:br/>
            <a:r>
              <a:t>P003        Kiran Rao     A103            22-SEP-2026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2309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9</a:t>
            </a:r>
            <a:r>
              <a:rPr dirty="0"/>
              <a:t>. Doctors and Their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SELECT </a:t>
            </a:r>
            <a:r>
              <a:rPr lang="en-US" dirty="0" err="1"/>
              <a:t>d.DoctorID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d.Doc_Name</a:t>
            </a:r>
            <a:r>
              <a:rPr lang="en-US" dirty="0"/>
              <a:t> AS </a:t>
            </a:r>
            <a:r>
              <a:rPr lang="en-US" dirty="0" err="1"/>
              <a:t>Doctor_Name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dept.DeptName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FROM DOCTOR 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JOIN DEPARTMENT dept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ON </a:t>
            </a:r>
            <a:r>
              <a:rPr lang="en-US" dirty="0" err="1"/>
              <a:t>d.DepartmentID</a:t>
            </a:r>
            <a:r>
              <a:rPr lang="en-US" dirty="0"/>
              <a:t> = </a:t>
            </a:r>
            <a:r>
              <a:rPr lang="en-US" dirty="0" err="1"/>
              <a:t>dept.DepartmentID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DOCTORID   DOCTOR_NAME       DEPARTMENTNAME</a:t>
            </a:r>
            <a:br/>
            <a:r>
              <a:t>D001       Dr. Suresh       Cardiology</a:t>
            </a:r>
            <a:br/>
            <a:r>
              <a:t>D002       Dr. Priya        Neurology</a:t>
            </a:r>
            <a:br/>
            <a:r>
              <a:t>D003       Dr. Arjun        Orthopedics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9241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10</a:t>
            </a:r>
            <a:r>
              <a:rPr dirty="0"/>
              <a:t>. Number of Appointments for Each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527" y="1005840"/>
            <a:ext cx="11155680" cy="2468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SELECT </a:t>
            </a:r>
            <a:r>
              <a:rPr lang="en-IN" dirty="0" err="1"/>
              <a:t>d.DoctorID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d.Doc_Name</a:t>
            </a:r>
            <a:r>
              <a:rPr lang="en-US" dirty="0"/>
              <a:t> AS </a:t>
            </a:r>
            <a:r>
              <a:rPr lang="en-US" dirty="0" err="1"/>
              <a:t>Doctor_Name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COUNT(</a:t>
            </a:r>
            <a:r>
              <a:rPr lang="en-US" dirty="0" err="1"/>
              <a:t>a.AppointmentID</a:t>
            </a:r>
            <a:r>
              <a:rPr lang="en-US" dirty="0"/>
              <a:t>) AS </a:t>
            </a:r>
            <a:r>
              <a:rPr lang="en-US" dirty="0" err="1"/>
              <a:t>Total_Appointments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FROM DOCTOR 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LEFT JOIN APPOINTMENT a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ON </a:t>
            </a:r>
            <a:r>
              <a:rPr lang="en-US" dirty="0" err="1"/>
              <a:t>d.DoctorID</a:t>
            </a:r>
            <a:r>
              <a:rPr lang="en-US" dirty="0"/>
              <a:t> = </a:t>
            </a:r>
            <a:r>
              <a:rPr lang="en-US" dirty="0" err="1"/>
              <a:t>a.DoctorID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GROUP BY </a:t>
            </a:r>
            <a:r>
              <a:rPr lang="en-US" dirty="0" err="1"/>
              <a:t>d.DoctorID</a:t>
            </a:r>
            <a:r>
              <a:rPr lang="en-US" dirty="0"/>
              <a:t>, </a:t>
            </a:r>
            <a:r>
              <a:rPr lang="en-US" dirty="0" err="1"/>
              <a:t>d.Doc_Name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DOCTORID   DOCTOR_NAME       TOTAL_APPOINTMENTS</a:t>
            </a:r>
            <a:br/>
            <a:r>
              <a:t>D001       Dr. Suresh       12</a:t>
            </a:r>
            <a:br/>
            <a:r>
              <a:t>D002       Dr. Priya        8</a:t>
            </a:r>
            <a:br/>
            <a:r>
              <a:t>D003       Dr. Arjun       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931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11</a:t>
            </a:r>
            <a:r>
              <a:rPr dirty="0"/>
              <a:t>. Patients and Their Total Bills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SELECT </a:t>
            </a:r>
            <a:r>
              <a:rPr lang="en-IN" dirty="0" err="1"/>
              <a:t>p.PatientID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       </a:t>
            </a:r>
            <a:r>
              <a:rPr lang="en-IN" dirty="0" err="1"/>
              <a:t>p.Name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       SUM(</a:t>
            </a:r>
            <a:r>
              <a:rPr lang="en-IN" dirty="0" err="1"/>
              <a:t>b.Amount</a:t>
            </a:r>
            <a:r>
              <a:rPr lang="en-IN" dirty="0"/>
              <a:t>) AS </a:t>
            </a:r>
            <a:r>
              <a:rPr lang="en-IN" dirty="0" err="1"/>
              <a:t>Total_Bill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FROM PATIENT p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JOIN BILLING b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ON </a:t>
            </a:r>
            <a:r>
              <a:rPr lang="en-IN" dirty="0" err="1"/>
              <a:t>p.PatientID</a:t>
            </a:r>
            <a:r>
              <a:rPr lang="en-IN" dirty="0"/>
              <a:t> = </a:t>
            </a:r>
            <a:r>
              <a:rPr lang="en-IN" dirty="0" err="1"/>
              <a:t>b.PatientID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GROUP BY </a:t>
            </a:r>
            <a:r>
              <a:rPr lang="en-IN" dirty="0" err="1"/>
              <a:t>p.PatientID</a:t>
            </a:r>
            <a:r>
              <a:rPr lang="en-IN" dirty="0"/>
              <a:t>, </a:t>
            </a:r>
            <a:r>
              <a:rPr lang="en-IN" dirty="0" err="1"/>
              <a:t>p.Name</a:t>
            </a:r>
            <a:r>
              <a:rPr lang="en-IN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TOTAL_BILL</a:t>
            </a:r>
            <a:br/>
            <a:r>
              <a:t>P001        Ravi Kumar     12500</a:t>
            </a:r>
            <a:br/>
            <a:r>
              <a:t>P002        Anjali Reddy   8700</a:t>
            </a:r>
            <a:br/>
            <a:r>
              <a:t>P003        Kiran Rao      15300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8414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12</a:t>
            </a:r>
            <a:r>
              <a:rPr dirty="0"/>
              <a:t>. Doctors with More Appointments Than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SELECT </a:t>
            </a:r>
            <a:r>
              <a:rPr lang="en-IN" sz="1200" dirty="0" err="1"/>
              <a:t>d.DoctorID</a:t>
            </a:r>
            <a:r>
              <a:rPr lang="en-IN" sz="1200" dirty="0"/>
              <a:t>, </a:t>
            </a:r>
            <a:r>
              <a:rPr lang="en-IN" sz="1200" dirty="0" err="1"/>
              <a:t>d.Doc_Name</a:t>
            </a:r>
            <a:r>
              <a:rPr lang="en-IN" sz="1200" dirty="0"/>
              <a:t> AS </a:t>
            </a:r>
            <a:r>
              <a:rPr lang="en-IN" sz="1200" dirty="0" err="1"/>
              <a:t>Doctor_Name</a:t>
            </a:r>
            <a:r>
              <a:rPr lang="en-IN" sz="1200" dirty="0"/>
              <a:t>, </a:t>
            </a:r>
            <a:r>
              <a:rPr lang="en-IN" sz="1200" dirty="0" err="1"/>
              <a:t>d.Specialization,d.Consultation_fee</a:t>
            </a:r>
            <a:endParaRPr lang="en-IN" sz="1200" dirty="0"/>
          </a:p>
          <a:p>
            <a:r>
              <a:rPr lang="en-IN" sz="1200" dirty="0"/>
              <a:t>FROM DOCTOR d WHERE</a:t>
            </a:r>
          </a:p>
          <a:p>
            <a:r>
              <a:rPr lang="en-IN" sz="1200" dirty="0"/>
              <a:t> </a:t>
            </a:r>
            <a:r>
              <a:rPr lang="en-IN" sz="1200" dirty="0" err="1"/>
              <a:t>d.Consultation_fee</a:t>
            </a:r>
            <a:r>
              <a:rPr lang="en-IN" sz="1200" dirty="0"/>
              <a:t> &gt; (SELECT AVG(Consultation_fee) </a:t>
            </a:r>
          </a:p>
          <a:p>
            <a:r>
              <a:rPr lang="en-IN" sz="1200" dirty="0"/>
              <a:t> FROM DOCTOR)</a:t>
            </a:r>
          </a:p>
          <a:p>
            <a:r>
              <a:rPr lang="en-IN" sz="1200" dirty="0"/>
              <a:t>ORDER BY </a:t>
            </a:r>
            <a:r>
              <a:rPr lang="en-IN" sz="1200" dirty="0" err="1"/>
              <a:t>d.Consultation_fee</a:t>
            </a:r>
            <a:r>
              <a:rPr lang="en-IN" sz="1200" dirty="0"/>
              <a:t>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069080"/>
            <a:ext cx="11155680" cy="2136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DOCTORID   DOCTOR_NAME              SPECIALIZATION           CONSULTATION_FEE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---------- ------------------------ ----------------   ------------------------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DR012      Dr. Priyanka Menon         Oncologist                       1000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DR008      Dr. Sanjay Verma           General Surgeon                   900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DR014      Dr. Nitin Joshi            Radiologist                       900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DR002      Dr. Neha Sharma            Neurologist                       850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5523-0556-5646-4B2A-EA135B95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E1BF59-81DB-EF7F-4EF2-AD5F1C72CFFB}"/>
              </a:ext>
            </a:extLst>
          </p:cNvPr>
          <p:cNvSpPr txBox="1"/>
          <p:nvPr/>
        </p:nvSpPr>
        <p:spPr>
          <a:xfrm>
            <a:off x="502920" y="228600"/>
            <a:ext cx="79818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/>
              <a:t>13. Patients with bills above the average bill amount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73CAD-F844-BC99-30C5-7446C461507A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48AB0B-1FBD-BF3F-3040-1198A0036C8A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SELECT </a:t>
            </a:r>
            <a:r>
              <a:rPr lang="en-IN" sz="1200" dirty="0" err="1"/>
              <a:t>p.PatientID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p.Name</a:t>
            </a:r>
            <a:r>
              <a:rPr lang="en-IN" sz="1200" dirty="0"/>
              <a:t> AS </a:t>
            </a:r>
            <a:r>
              <a:rPr lang="en-IN" sz="1200" dirty="0" err="1"/>
              <a:t>Patient_Name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b.Amount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b.PaymentStatus</a:t>
            </a:r>
            <a:endParaRPr lang="en-IN" sz="1200" dirty="0"/>
          </a:p>
          <a:p>
            <a:r>
              <a:rPr lang="en-IN" sz="1200" dirty="0"/>
              <a:t>FROM PATIENT p</a:t>
            </a:r>
          </a:p>
          <a:p>
            <a:r>
              <a:rPr lang="en-IN" sz="1200" dirty="0"/>
              <a:t>JOIN BILLING b</a:t>
            </a:r>
          </a:p>
          <a:p>
            <a:r>
              <a:rPr lang="en-IN" sz="1200" dirty="0"/>
              <a:t>ON </a:t>
            </a:r>
            <a:r>
              <a:rPr lang="en-IN" sz="1200" dirty="0" err="1"/>
              <a:t>p.PatientID</a:t>
            </a:r>
            <a:r>
              <a:rPr lang="en-IN" sz="1200" dirty="0"/>
              <a:t> = </a:t>
            </a:r>
            <a:r>
              <a:rPr lang="en-IN" sz="1200" dirty="0" err="1"/>
              <a:t>b.PatientID</a:t>
            </a:r>
            <a:endParaRPr lang="en-IN" sz="1200" dirty="0"/>
          </a:p>
          <a:p>
            <a:r>
              <a:rPr lang="en-IN" sz="1200" dirty="0"/>
              <a:t>WHERE </a:t>
            </a:r>
            <a:r>
              <a:rPr lang="en-IN" sz="1200" dirty="0" err="1"/>
              <a:t>b.Amount</a:t>
            </a:r>
            <a:r>
              <a:rPr lang="en-IN" sz="1200" dirty="0"/>
              <a:t> &gt; (</a:t>
            </a:r>
          </a:p>
          <a:p>
            <a:r>
              <a:rPr lang="en-IN" sz="1200" dirty="0"/>
              <a:t>    SELECT AVG(Amount)</a:t>
            </a:r>
          </a:p>
          <a:p>
            <a:r>
              <a:rPr lang="en-IN" sz="1200" dirty="0"/>
              <a:t>    FROM BILLING</a:t>
            </a:r>
          </a:p>
          <a:p>
            <a:r>
              <a:rPr lang="en-IN" sz="1200" dirty="0"/>
              <a:t>)</a:t>
            </a:r>
          </a:p>
          <a:p>
            <a:r>
              <a:rPr lang="en-IN" sz="1200" dirty="0"/>
              <a:t>ORDER BY </a:t>
            </a:r>
            <a:r>
              <a:rPr lang="en-IN" sz="1200" dirty="0" err="1"/>
              <a:t>b.Amount</a:t>
            </a:r>
            <a:r>
              <a:rPr lang="en-IN" sz="1200" dirty="0"/>
              <a:t> DESC;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860B14-9FFC-0E33-D605-E7CC8C411309}"/>
              </a:ext>
            </a:extLst>
          </p:cNvPr>
          <p:cNvSpPr/>
          <p:nvPr/>
        </p:nvSpPr>
        <p:spPr>
          <a:xfrm>
            <a:off x="502920" y="4069079"/>
            <a:ext cx="11155680" cy="24440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PATIENTID  PATIENT_NAME                                                     AMOUNT PAYMENTSTATUS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---------- ------------------------------------------------------------ ---------- ---------------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P015       Sandeep Joshi                                                     10250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P014       Pooja Shah                                                         9900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P013       Karthik Reddy                                                      9550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P012       Meera Das                                                          9200 PENDING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P011       Arjun Kumar                                                        8850 PAID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5565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6F14-FFD1-63D1-7FC8-8E8C4038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86EE68-8D67-4731-DEC0-044C8A18D0D8}"/>
              </a:ext>
            </a:extLst>
          </p:cNvPr>
          <p:cNvSpPr txBox="1"/>
          <p:nvPr/>
        </p:nvSpPr>
        <p:spPr>
          <a:xfrm>
            <a:off x="502920" y="228600"/>
            <a:ext cx="72852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/>
              <a:t>14. Departments with more than one employee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897AB-6348-E9D6-A984-AC24B4546EC2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56C2D2-AA4B-C9EC-E9BC-EC6CDE5F5CB8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SELECT </a:t>
            </a:r>
            <a:r>
              <a:rPr lang="en-US" sz="1200" dirty="0" err="1"/>
              <a:t>d.DepartmentID</a:t>
            </a:r>
            <a:r>
              <a:rPr lang="en-US" sz="1200" dirty="0"/>
              <a:t>,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d.DeptName</a:t>
            </a:r>
            <a:r>
              <a:rPr lang="en-US" sz="1200" dirty="0"/>
              <a:t>,</a:t>
            </a:r>
          </a:p>
          <a:p>
            <a:r>
              <a:rPr lang="en-US" sz="1200" dirty="0"/>
              <a:t>       COUNT(</a:t>
            </a:r>
            <a:r>
              <a:rPr lang="en-US" sz="1200" dirty="0" err="1"/>
              <a:t>e.EmployeeID</a:t>
            </a:r>
            <a:r>
              <a:rPr lang="en-US" sz="1200" dirty="0"/>
              <a:t>) AS </a:t>
            </a:r>
            <a:r>
              <a:rPr lang="en-US" sz="1200" dirty="0" err="1"/>
              <a:t>Employee_Count</a:t>
            </a:r>
            <a:endParaRPr lang="en-US" sz="1200" dirty="0"/>
          </a:p>
          <a:p>
            <a:r>
              <a:rPr lang="en-US" sz="1200" dirty="0"/>
              <a:t>FROM DEPARTMENT d</a:t>
            </a:r>
          </a:p>
          <a:p>
            <a:r>
              <a:rPr lang="en-US" sz="1200" dirty="0"/>
              <a:t>JOIN EMPLOYEES e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d.DepartmentID</a:t>
            </a:r>
            <a:r>
              <a:rPr lang="en-US" sz="1200" dirty="0"/>
              <a:t> = </a:t>
            </a:r>
            <a:r>
              <a:rPr lang="en-US" sz="1200" dirty="0" err="1"/>
              <a:t>e.DepartmentID</a:t>
            </a:r>
            <a:endParaRPr lang="en-US" sz="1200" dirty="0"/>
          </a:p>
          <a:p>
            <a:r>
              <a:rPr lang="en-US" sz="1200" dirty="0"/>
              <a:t>GROUP BY </a:t>
            </a:r>
            <a:r>
              <a:rPr lang="en-US" sz="1200" dirty="0" err="1"/>
              <a:t>d.DepartmentID</a:t>
            </a:r>
            <a:r>
              <a:rPr lang="en-US" sz="1200" dirty="0"/>
              <a:t>, </a:t>
            </a:r>
            <a:r>
              <a:rPr lang="en-US" sz="1200" dirty="0" err="1"/>
              <a:t>d.DeptName</a:t>
            </a:r>
            <a:endParaRPr lang="en-US" sz="1200" dirty="0"/>
          </a:p>
          <a:p>
            <a:r>
              <a:rPr lang="en-US" sz="1200" dirty="0"/>
              <a:t>HAVING COUNT(</a:t>
            </a:r>
            <a:r>
              <a:rPr lang="en-US" sz="1200" dirty="0" err="1"/>
              <a:t>e.EmployeeID</a:t>
            </a:r>
            <a:r>
              <a:rPr lang="en-US" sz="1200" dirty="0"/>
              <a:t>) &gt; 1</a:t>
            </a:r>
          </a:p>
          <a:p>
            <a:r>
              <a:rPr lang="en-US" sz="1200" dirty="0"/>
              <a:t>ORDER BY </a:t>
            </a:r>
            <a:r>
              <a:rPr lang="en-US" sz="1200" dirty="0" err="1"/>
              <a:t>Employee_Count</a:t>
            </a:r>
            <a:r>
              <a:rPr lang="en-US" sz="1200" dirty="0"/>
              <a:t> DESC;</a:t>
            </a:r>
            <a:endParaRPr lang="en-IN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ED1112-82B3-988B-6DB8-D1F44FDDBB36}"/>
              </a:ext>
            </a:extLst>
          </p:cNvPr>
          <p:cNvSpPr/>
          <p:nvPr/>
        </p:nvSpPr>
        <p:spPr>
          <a:xfrm>
            <a:off x="502920" y="4069079"/>
            <a:ext cx="11155680" cy="24440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DEPARTMENT DEPTNAME                                                     EMPLOYEE_COUNT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---------- ------------------------------------------------------------ 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D003       Orthopedics    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D006       ENT            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D008       General Surgery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D002       Neurology                                                                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0881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6C81-1BB9-73CE-693D-69516C05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C18A2-19B2-147C-51E3-A987229E355A}"/>
              </a:ext>
            </a:extLst>
          </p:cNvPr>
          <p:cNvSpPr txBox="1"/>
          <p:nvPr/>
        </p:nvSpPr>
        <p:spPr>
          <a:xfrm>
            <a:off x="347924" y="207499"/>
            <a:ext cx="112474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500" b="1" dirty="0"/>
              <a:t>15.Departments with their total employee count and average employee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D049B-2488-BB82-659C-BD3DF3344F6A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D63937B-3282-6472-5520-80432F96E7C7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SELECT </a:t>
            </a:r>
            <a:r>
              <a:rPr lang="en-US" sz="1200" dirty="0" err="1"/>
              <a:t>d.DepartmentID</a:t>
            </a:r>
            <a:r>
              <a:rPr lang="en-US" sz="1200" dirty="0"/>
              <a:t>,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d.DeptName</a:t>
            </a:r>
            <a:r>
              <a:rPr lang="en-US" sz="1200" dirty="0"/>
              <a:t>,</a:t>
            </a:r>
          </a:p>
          <a:p>
            <a:r>
              <a:rPr lang="en-US" sz="1200" dirty="0"/>
              <a:t>       COUNT(</a:t>
            </a:r>
            <a:r>
              <a:rPr lang="en-US" sz="1200" dirty="0" err="1"/>
              <a:t>e.EmployeeID</a:t>
            </a:r>
            <a:r>
              <a:rPr lang="en-US" sz="1200" dirty="0"/>
              <a:t>) AS </a:t>
            </a:r>
            <a:r>
              <a:rPr lang="en-US" sz="1200" dirty="0" err="1"/>
              <a:t>Total_Employees</a:t>
            </a:r>
            <a:r>
              <a:rPr lang="en-US" sz="1200" dirty="0"/>
              <a:t>,</a:t>
            </a:r>
          </a:p>
          <a:p>
            <a:r>
              <a:rPr lang="en-US" sz="1200" dirty="0"/>
              <a:t>       ROUND(AVG(</a:t>
            </a:r>
            <a:r>
              <a:rPr lang="en-US" sz="1200" dirty="0" err="1"/>
              <a:t>n.Experience_Years</a:t>
            </a:r>
            <a:r>
              <a:rPr lang="en-US" sz="1200" dirty="0"/>
              <a:t>), 2) AS </a:t>
            </a:r>
            <a:r>
              <a:rPr lang="en-US" sz="1200" dirty="0" err="1"/>
              <a:t>Avg_Experience</a:t>
            </a:r>
            <a:endParaRPr lang="en-US" sz="1200" dirty="0"/>
          </a:p>
          <a:p>
            <a:r>
              <a:rPr lang="en-US" sz="1200" dirty="0"/>
              <a:t>FROM DEPARTMENT d</a:t>
            </a:r>
          </a:p>
          <a:p>
            <a:r>
              <a:rPr lang="en-US" sz="1200" dirty="0"/>
              <a:t>JOIN EMPLOYEES e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d.DepartmentID</a:t>
            </a:r>
            <a:r>
              <a:rPr lang="en-US" sz="1200" dirty="0"/>
              <a:t> = </a:t>
            </a:r>
            <a:r>
              <a:rPr lang="en-US" sz="1200" dirty="0" err="1"/>
              <a:t>e.DepartmentID</a:t>
            </a:r>
            <a:endParaRPr lang="en-US" sz="1200" dirty="0"/>
          </a:p>
          <a:p>
            <a:r>
              <a:rPr lang="en-US" sz="1200" dirty="0"/>
              <a:t>JOIN NURSE n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e.EmployeeID</a:t>
            </a:r>
            <a:r>
              <a:rPr lang="en-US" sz="1200" dirty="0"/>
              <a:t> = </a:t>
            </a:r>
            <a:r>
              <a:rPr lang="en-US" sz="1200" dirty="0" err="1"/>
              <a:t>n.EmployeeID</a:t>
            </a:r>
            <a:endParaRPr lang="en-US" sz="1200" dirty="0"/>
          </a:p>
          <a:p>
            <a:r>
              <a:rPr lang="en-US" sz="1200" dirty="0"/>
              <a:t>GROUP BY </a:t>
            </a:r>
            <a:r>
              <a:rPr lang="en-US" sz="1200" dirty="0" err="1"/>
              <a:t>d.DepartmentID</a:t>
            </a:r>
            <a:r>
              <a:rPr lang="en-US" sz="1200" dirty="0"/>
              <a:t>, </a:t>
            </a:r>
            <a:r>
              <a:rPr lang="en-US" sz="1200" dirty="0" err="1"/>
              <a:t>d.DeptName</a:t>
            </a:r>
            <a:endParaRPr lang="en-US" sz="1200" dirty="0"/>
          </a:p>
          <a:p>
            <a:r>
              <a:rPr lang="en-US" sz="1200" dirty="0"/>
              <a:t>HAVING COUNT(</a:t>
            </a:r>
            <a:r>
              <a:rPr lang="en-US" sz="1200" dirty="0" err="1"/>
              <a:t>e.EmployeeID</a:t>
            </a:r>
            <a:r>
              <a:rPr lang="en-US" sz="1200" dirty="0"/>
              <a:t>) &gt;= 1</a:t>
            </a:r>
          </a:p>
          <a:p>
            <a:r>
              <a:rPr lang="en-US" sz="1200" dirty="0"/>
              <a:t>ORDER BY </a:t>
            </a:r>
            <a:r>
              <a:rPr lang="en-US" sz="1200" dirty="0" err="1"/>
              <a:t>Avg_Experience</a:t>
            </a:r>
            <a:r>
              <a:rPr lang="en-US" sz="1200" dirty="0"/>
              <a:t> DESC;</a:t>
            </a:r>
            <a:endParaRPr lang="en-IN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A8ECCA-F2FE-3575-4CAD-7A10770BDA1D}"/>
              </a:ext>
            </a:extLst>
          </p:cNvPr>
          <p:cNvSpPr/>
          <p:nvPr/>
        </p:nvSpPr>
        <p:spPr>
          <a:xfrm>
            <a:off x="502920" y="4069079"/>
            <a:ext cx="11155680" cy="25814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DEPARTMENT DEPTNAME                                                     TOTAL_EMPLOYEES AVG_EXPERIENCE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---------- ------------------------------------------------------------ --------------- 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D011       Urology                                                                    1              8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D006       ENT                                                                        1              7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D004       Pediatrics                                                                 1              6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D010       Gynecology                                                                 1              6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D003       Orthopedics                                                                1              5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D009       Ophthalmology                                                              1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4282685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8380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Before 1NF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11567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AppointmentDate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Ravi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9876543210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Dr. Anil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9871111111, 9872222222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20-09-2026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Sita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9876543211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Dr. Meena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9873333333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Neurology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21-09-2026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940" y="3682465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DoctorPhones contains more than one value in a single cell.</a:t>
            </a:r>
          </a:p>
          <a:p>
            <a:pPr>
              <a:spcAft>
                <a:spcPts val="800"/>
              </a:spcAft>
              <a:defRPr sz="1900"/>
            </a:pPr>
            <a:r>
              <a:t>Patient, doctor and department facts are mixed together.</a:t>
            </a:r>
          </a:p>
          <a:p>
            <a:pPr>
              <a:spcAft>
                <a:spcPts val="800"/>
              </a:spcAft>
              <a:defRPr sz="1900"/>
            </a:pPr>
            <a:r>
              <a:t>Information can be repeated across multiple hospital records.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1NF — After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Rule: every attribute must contain one atomic value; no repeating groups or multi-valued cells.</a:t>
            </a:r>
          </a:p>
          <a:p>
            <a:pPr>
              <a:spcAft>
                <a:spcPts val="800"/>
              </a:spcAft>
              <a:defRPr sz="2000"/>
            </a:pPr>
            <a:r>
              <a:t>Example: DoctorPhones is separated into DOCTOR_PHONE.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4884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DoctorID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phn_number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9871111111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9872222222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9873333333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210312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Primary key: (DoctorID, phn_number)</a:t>
            </a:r>
          </a:p>
          <a:p>
            <a:pPr>
              <a:spcAft>
                <a:spcPts val="800"/>
              </a:spcAft>
              <a:defRPr sz="1800"/>
            </a:pPr>
            <a:r>
              <a:t>Functional dependency: (DoctorID, phn_number) → no non-key attribute</a:t>
            </a:r>
          </a:p>
          <a:p>
            <a:pPr>
              <a:spcAft>
                <a:spcPts val="800"/>
              </a:spcAft>
              <a:defRPr sz="1800"/>
            </a:pPr>
            <a:r>
              <a:t>Every phone value is atomic.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2859"/>
            <a:ext cx="17171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Before 2NF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828800"/>
          <a:ext cx="115671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PatientPhone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Sita Rao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</a:defRPr>
            </a:pPr>
            <a:r>
              <a:t>Functional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rPr dirty="0"/>
              <a:t>(</a:t>
            </a:r>
            <a:r>
              <a:rPr dirty="0" err="1"/>
              <a:t>PatientID</a:t>
            </a:r>
            <a:r>
              <a:rPr dirty="0"/>
              <a:t>, </a:t>
            </a:r>
            <a:r>
              <a:rPr dirty="0" err="1"/>
              <a:t>AppointmentID</a:t>
            </a:r>
            <a:r>
              <a:rPr dirty="0"/>
              <a:t>) → </a:t>
            </a:r>
            <a:r>
              <a:rPr dirty="0" err="1"/>
              <a:t>PatientName</a:t>
            </a:r>
            <a:r>
              <a:rPr dirty="0"/>
              <a:t>, </a:t>
            </a:r>
            <a:r>
              <a:rPr dirty="0" err="1"/>
              <a:t>PatientPhone</a:t>
            </a:r>
            <a:r>
              <a:rPr dirty="0"/>
              <a:t>, </a:t>
            </a:r>
            <a:r>
              <a:rPr dirty="0" err="1"/>
              <a:t>DoctorID</a:t>
            </a:r>
            <a:r>
              <a:rPr dirty="0"/>
              <a:t>, </a:t>
            </a:r>
            <a:r>
              <a:rPr dirty="0" err="1"/>
              <a:t>DoctorName</a:t>
            </a:r>
            <a:r>
              <a:rPr dirty="0"/>
              <a:t>, </a:t>
            </a:r>
            <a:r>
              <a:rPr dirty="0" err="1"/>
              <a:t>AppointmentDate</a:t>
            </a:r>
            <a:r>
              <a:rPr dirty="0"/>
              <a:t>, </a:t>
            </a:r>
            <a:r>
              <a:rPr dirty="0" err="1"/>
              <a:t>AppointmentTime</a:t>
            </a:r>
            <a:br>
              <a:rPr dirty="0"/>
            </a:br>
            <a:r>
              <a:rPr dirty="0" err="1"/>
              <a:t>PatientID</a:t>
            </a:r>
            <a:r>
              <a:rPr dirty="0"/>
              <a:t> → </a:t>
            </a:r>
            <a:r>
              <a:rPr dirty="0" err="1"/>
              <a:t>PatientName</a:t>
            </a:r>
            <a:r>
              <a:rPr dirty="0"/>
              <a:t>, </a:t>
            </a:r>
            <a:r>
              <a:rPr dirty="0" err="1"/>
              <a:t>PatientPhone</a:t>
            </a:r>
            <a:r>
              <a:rPr dirty="0"/>
              <a:t>   ← Partial Dependency</a:t>
            </a:r>
            <a:br>
              <a:rPr dirty="0"/>
            </a:br>
            <a:r>
              <a:rPr dirty="0" err="1"/>
              <a:t>DoctorID</a:t>
            </a:r>
            <a:r>
              <a:rPr dirty="0"/>
              <a:t> → </a:t>
            </a:r>
            <a:r>
              <a:rPr dirty="0" err="1"/>
              <a:t>DoctorName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After 2NF — Exactly 2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Remove the partial dependency: PatientID → PatientName, PatientPhone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dirty="0"/>
              <a:t>TABLE 1 — PATIENT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874519"/>
          <a:ext cx="48463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PatientName</a:t>
                      </a:r>
                      <a:endParaRPr dirty="0"/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PatientPhone</a:t>
                      </a:r>
                      <a:endParaRPr dirty="0"/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9876543210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Sita Rao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9876543211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TABLE 2 — APPOINTMENT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21900"/>
              </p:ext>
            </p:extLst>
          </p:nvPr>
        </p:nvGraphicFramePr>
        <p:xfrm>
          <a:off x="5715000" y="2011680"/>
          <a:ext cx="5897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AppointmentID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PatientID (FK)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PATIENT: PatientID is the complete key.</a:t>
            </a:r>
            <a:br/>
            <a:r>
              <a:t>• APPOINTMENT: AppointmentID is the complete key.</a:t>
            </a:r>
            <a:br/>
            <a:r>
              <a:t>• No non-key attribute depends on only part of a composite key.</a:t>
            </a:r>
            <a:br/>
            <a:r>
              <a:t>Therefore, both relations satisfy 2NF.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C66E-7DFD-07C0-058F-87840505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46DA6-88AB-991D-38FE-AF5E4C78C0EC}"/>
              </a:ext>
            </a:extLst>
          </p:cNvPr>
          <p:cNvSpPr txBox="1"/>
          <p:nvPr/>
        </p:nvSpPr>
        <p:spPr>
          <a:xfrm>
            <a:off x="548640" y="228600"/>
            <a:ext cx="17171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Before</a:t>
            </a:r>
            <a:r>
              <a:rPr dirty="0"/>
              <a:t> </a:t>
            </a:r>
            <a:r>
              <a:rPr lang="en-IN" dirty="0"/>
              <a:t>3</a:t>
            </a:r>
            <a:r>
              <a:rPr dirty="0"/>
              <a:t>NF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1EB99-C1B7-956E-1E69-45A62CACA1CB}"/>
              </a:ext>
            </a:extLst>
          </p:cNvPr>
          <p:cNvSpPr txBox="1"/>
          <p:nvPr/>
        </p:nvSpPr>
        <p:spPr>
          <a:xfrm>
            <a:off x="548640" y="101983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dirty="0"/>
              <a:t>TABLE  — APPOINTMENT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4BA794-FFD8-D330-E993-454A96341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69138"/>
              </p:ext>
            </p:extLst>
          </p:nvPr>
        </p:nvGraphicFramePr>
        <p:xfrm>
          <a:off x="594360" y="1522754"/>
          <a:ext cx="5897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AppointmentID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PatientID (FK)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6DAB61-C47C-CD85-F8A8-C7C126FCDA2C}"/>
              </a:ext>
            </a:extLst>
          </p:cNvPr>
          <p:cNvSpPr txBox="1"/>
          <p:nvPr/>
        </p:nvSpPr>
        <p:spPr>
          <a:xfrm>
            <a:off x="594360" y="3996190"/>
            <a:ext cx="1042416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Therefore: </a:t>
            </a: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DoctorName</a:t>
            </a:r>
            <a:r>
              <a:rPr lang="en-US" sz="1200" dirty="0"/>
              <a:t> depends on </a:t>
            </a:r>
            <a:r>
              <a:rPr lang="en-US" sz="1200" dirty="0" err="1"/>
              <a:t>DoctorID</a:t>
            </a:r>
            <a:r>
              <a:rPr lang="en-US" sz="1200" dirty="0"/>
              <a:t>, not directly on the key </a:t>
            </a:r>
            <a:r>
              <a:rPr lang="en-US" sz="1200" dirty="0" err="1"/>
              <a:t>AppointmentID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This is a transitive dependency and must be removed for 3NF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57246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4E7EC-3EA9-7643-4CDC-6200C6B2E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82763"/>
              </p:ext>
            </p:extLst>
          </p:nvPr>
        </p:nvGraphicFramePr>
        <p:xfrm>
          <a:off x="345440" y="1719072"/>
          <a:ext cx="651967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PatientID</a:t>
                      </a:r>
                      <a:r>
                        <a:rPr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PatientPhone</a:t>
                      </a:r>
                      <a:r>
                        <a:rPr lang="en-IN" dirty="0"/>
                        <a:t>   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Ravi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9876543210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Sita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9876543211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BFCA7-0B6A-E288-0667-19373AFCE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27285"/>
              </p:ext>
            </p:extLst>
          </p:nvPr>
        </p:nvGraphicFramePr>
        <p:xfrm>
          <a:off x="416560" y="4482592"/>
          <a:ext cx="4816856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lang="en-IN" dirty="0"/>
                        <a:t>Doctor</a:t>
                      </a:r>
                      <a:r>
                        <a:rPr dirty="0"/>
                        <a:t>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lang="en-IN" dirty="0"/>
                        <a:t>Doctor</a:t>
                      </a:r>
                      <a:r>
                        <a:rPr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</a:t>
                      </a:r>
                      <a:r>
                        <a:rPr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Dr. Anil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</a:t>
                      </a:r>
                      <a:r>
                        <a:rPr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Dr. Meena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D4D9AB1-793C-12D2-9377-05F5E79A4238}"/>
              </a:ext>
            </a:extLst>
          </p:cNvPr>
          <p:cNvSpPr txBox="1"/>
          <p:nvPr/>
        </p:nvSpPr>
        <p:spPr>
          <a:xfrm>
            <a:off x="345440" y="35829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sz="2600" dirty="0"/>
              <a:t>After 3NF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33677F-6AB4-E466-B549-EBC2C7039E9F}"/>
              </a:ext>
            </a:extLst>
          </p:cNvPr>
          <p:cNvSpPr txBox="1"/>
          <p:nvPr/>
        </p:nvSpPr>
        <p:spPr>
          <a:xfrm>
            <a:off x="416560" y="13497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1 — PATIENT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6DEFE-A5B7-E2AF-AB35-A3C09236B91F}"/>
              </a:ext>
            </a:extLst>
          </p:cNvPr>
          <p:cNvSpPr txBox="1"/>
          <p:nvPr/>
        </p:nvSpPr>
        <p:spPr>
          <a:xfrm>
            <a:off x="416560" y="3840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2 — Doctor</a:t>
            </a:r>
          </a:p>
        </p:txBody>
      </p:sp>
    </p:spTree>
    <p:extLst>
      <p:ext uri="{BB962C8B-B14F-4D97-AF65-F5344CB8AC3E}">
        <p14:creationId xmlns:p14="http://schemas.microsoft.com/office/powerpoint/2010/main" val="456332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6A8BFF-0ED7-C473-0C3E-A0718F279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83316"/>
              </p:ext>
            </p:extLst>
          </p:nvPr>
        </p:nvGraphicFramePr>
        <p:xfrm>
          <a:off x="411480" y="1143000"/>
          <a:ext cx="1051560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PatientID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DoctorID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23-09-2026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09:30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BEF8B3-7970-6C5A-E5A3-AE58015090B4}"/>
              </a:ext>
            </a:extLst>
          </p:cNvPr>
          <p:cNvSpPr txBox="1"/>
          <p:nvPr/>
        </p:nvSpPr>
        <p:spPr>
          <a:xfrm>
            <a:off x="589280" y="490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</a:t>
            </a:r>
            <a:r>
              <a:rPr lang="en-IN" dirty="0"/>
              <a:t>3 </a:t>
            </a:r>
            <a:r>
              <a:rPr lang="en-IN" sz="1800" dirty="0"/>
              <a:t>— Appointment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C66E7-77F0-5668-9932-2462DEDB2CB3}"/>
              </a:ext>
            </a:extLst>
          </p:cNvPr>
          <p:cNvSpPr txBox="1"/>
          <p:nvPr/>
        </p:nvSpPr>
        <p:spPr>
          <a:xfrm>
            <a:off x="411480" y="3848998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lang="en-US" sz="1200" dirty="0"/>
              <a:t>PATIENT: </a:t>
            </a:r>
            <a:r>
              <a:rPr lang="en-US" sz="1200" dirty="0" err="1"/>
              <a:t>PatientID</a:t>
            </a:r>
            <a:r>
              <a:rPr lang="en-US" sz="1200" dirty="0"/>
              <a:t> is the complete key; </a:t>
            </a:r>
            <a:r>
              <a:rPr lang="en-US" sz="1200" dirty="0" err="1"/>
              <a:t>PatientName</a:t>
            </a:r>
            <a:r>
              <a:rPr lang="en-US" sz="1200" dirty="0"/>
              <a:t> and </a:t>
            </a:r>
            <a:r>
              <a:rPr lang="en-US" sz="1200" dirty="0" err="1"/>
              <a:t>PatientPhone</a:t>
            </a:r>
            <a:r>
              <a:rPr lang="en-US" sz="1200" dirty="0"/>
              <a:t> depend on </a:t>
            </a:r>
            <a:r>
              <a:rPr lang="en-US" sz="1200" dirty="0" err="1"/>
              <a:t>PatientID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DOCTOR: </a:t>
            </a:r>
            <a:r>
              <a:rPr lang="en-US" sz="1200" dirty="0" err="1"/>
              <a:t>DoctorID</a:t>
            </a:r>
            <a:r>
              <a:rPr lang="en-US" sz="1200" dirty="0"/>
              <a:t> is the complete key; </a:t>
            </a:r>
            <a:r>
              <a:rPr lang="en-US" sz="1200" dirty="0" err="1"/>
              <a:t>DoctorName</a:t>
            </a:r>
            <a:r>
              <a:rPr lang="en-US" sz="1200" dirty="0"/>
              <a:t> depends on </a:t>
            </a:r>
            <a:r>
              <a:rPr lang="en-US" sz="1200" dirty="0" err="1"/>
              <a:t>DoctorID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APPOINTMENT: </a:t>
            </a:r>
            <a:r>
              <a:rPr lang="en-US" sz="1200" dirty="0" err="1"/>
              <a:t>AppointmentID</a:t>
            </a:r>
            <a:r>
              <a:rPr lang="en-US" sz="1200" dirty="0"/>
              <a:t> is the complete key; </a:t>
            </a:r>
            <a:r>
              <a:rPr lang="en-US" sz="1200" dirty="0" err="1"/>
              <a:t>PatientID</a:t>
            </a:r>
            <a:r>
              <a:rPr lang="en-US" sz="1200" dirty="0"/>
              <a:t>, </a:t>
            </a:r>
            <a:r>
              <a:rPr lang="en-US" sz="1200" dirty="0" err="1"/>
              <a:t>DoctorID</a:t>
            </a:r>
            <a:r>
              <a:rPr lang="en-US" sz="1200" dirty="0"/>
              <a:t>, </a:t>
            </a:r>
            <a:r>
              <a:rPr lang="en-US" sz="1200" dirty="0" err="1"/>
              <a:t>AppointmentDate</a:t>
            </a:r>
            <a:r>
              <a:rPr lang="en-US" sz="1200" dirty="0"/>
              <a:t> and </a:t>
            </a:r>
            <a:r>
              <a:rPr lang="en-US" sz="1200" dirty="0" err="1"/>
              <a:t>AppointmentTime</a:t>
            </a:r>
            <a:r>
              <a:rPr lang="en-US" sz="1200" dirty="0"/>
              <a:t> depend on </a:t>
            </a:r>
            <a:r>
              <a:rPr lang="en-US" sz="1200" dirty="0" err="1"/>
              <a:t>AppointmentID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The transitive dependency </a:t>
            </a: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r>
              <a:rPr lang="en-US" sz="1200" dirty="0"/>
              <a:t> has been removed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602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3832</Words>
  <Application>Microsoft Office PowerPoint</Application>
  <PresentationFormat>Widescreen</PresentationFormat>
  <Paragraphs>626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ABHIRAM A</cp:lastModifiedBy>
  <cp:revision>73</cp:revision>
  <dcterms:created xsi:type="dcterms:W3CDTF">2026-08-07T11:14:06Z</dcterms:created>
  <dcterms:modified xsi:type="dcterms:W3CDTF">2026-10-04T11:07:36Z</dcterms:modified>
</cp:coreProperties>
</file>